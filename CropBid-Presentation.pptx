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6" r:id="rId17"/>
    <p:sldId id="260" r:id="rId11"/>
    <p:sldId id="261" r:id="rId12"/>
    <p:sldId id="262" r:id="rId13"/>
    <p:sldId id="270" r:id="rId21"/>
    <p:sldId id="263" r:id="rId14"/>
    <p:sldId id="264" r:id="rId15"/>
    <p:sldId id="265" r:id="rId16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ib.gov.in/PressNoteDetails.aspx?NoteId=154960&amp;ModuleId=3" TargetMode="External"/><Relationship Id="rId3" Type="http://schemas.openxmlformats.org/officeDocument/2006/relationships/hyperlink" Target="https://www.rbi.org.in/scripts/BS_ViewBulletin.aspx?Id=18527" TargetMode="External"/><Relationship Id="rId4" Type="http://schemas.openxmlformats.org/officeDocument/2006/relationships/hyperlink" Target="https://www.pib.gov.in/PressReleaseIframePage.aspx?PRID=1910360" TargetMode="External"/><Relationship Id="rId5" Type="http://schemas.openxmlformats.org/officeDocument/2006/relationships/hyperlink" Target="https://www.ibef.org/blogs/from-farms-to-fridges-how-cold-chain-infrastructure-is-transforming-india-s-agriculture" TargetMode="External"/><Relationship Id="rId6" Type="http://schemas.openxmlformats.org/officeDocument/2006/relationships/hyperlink" Target="https://ncaer.org/wp-content/uploads/2023/12/NCAER_Report_LogisticsCost2023.pdf" TargetMode="External"/><Relationship Id="rId7" Type="http://schemas.openxmlformats.org/officeDocument/2006/relationships/hyperlink" Target="https://inc42.com/reports/indian-agritech-market-landscape-report-2025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56048" y="685800"/>
            <a:ext cx="2286000" cy="155448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🖼  CropBid logo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add logo image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CropBid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A02B"/>
                </a:solidFill>
                <a:latin typeface="Calibri"/>
              </a:rPr>
              <a:t>The AI-Powered Crop Exchange — for 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4340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E6D6"/>
                </a:solidFill>
                <a:latin typeface="Calibri"/>
              </a:rPr>
              <a:t>One exchange where farmers, FPOs, traders, wholesalers, retailers and consumers
all buy and sell — AI negotiation, live auctions, escrow payments and logistics built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623560"/>
            <a:ext cx="8531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DC4A8"/>
                </a:solidFill>
                <a:latin typeface="Calibri"/>
              </a:rPr>
              <a:t>Presented by  ‹ your name here ›      ·      cropbid.in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WHY THIS MATTERS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The problem the whole crop trade faces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 i="0">
                <a:solidFill>
                  <a:srgbClr val="222B24"/>
                </a:solidFill>
                <a:latin typeface="Calibri"/>
              </a:rPr>
              <a:t>Opaque pricing — </a:t>
            </a:r>
            <a:r>
              <a:rPr sz="1700" b="0" i="0">
                <a:solidFill>
                  <a:srgbClr val="222B24"/>
                </a:solidFill>
                <a:latin typeface="Calibri"/>
              </a:rPr>
              <a:t>sellers rarely see the price the market is actually paying for their crop today.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22B24"/>
                </a:solidFill>
                <a:latin typeface="Calibri"/>
              </a:rPr>
              <a:t>Cold-start negotiations — </a:t>
            </a:r>
            <a:r>
              <a:rPr sz="1700" b="0" i="0">
                <a:solidFill>
                  <a:srgbClr val="222B24"/>
                </a:solidFill>
                <a:latin typeface="Calibri"/>
              </a:rPr>
              <a:t>with no shared price anchor, neither side knows what a fair offer looks like.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22B24"/>
                </a:solidFill>
                <a:latin typeface="Calibri"/>
              </a:rPr>
              <a:t>Payment risk — </a:t>
            </a:r>
            <a:r>
              <a:rPr sz="1700" b="0" i="0">
                <a:solidFill>
                  <a:srgbClr val="222B24"/>
                </a:solidFill>
                <a:latin typeface="Calibri"/>
              </a:rPr>
              <a:t>sellers often ship first, then chase payments with no protection.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22B24"/>
                </a:solidFill>
                <a:latin typeface="Calibri"/>
              </a:rPr>
              <a:t>Fragmented logistics — </a:t>
            </a:r>
            <a:r>
              <a:rPr sz="1700" b="0" i="0">
                <a:solidFill>
                  <a:srgbClr val="222B24"/>
                </a:solidFill>
                <a:latin typeface="Calibri"/>
              </a:rPr>
              <a:t>arranging transport is manual, opaque and unreliable.</a:t>
            </a:r>
          </a:p>
          <a:p>
            <a:pPr>
              <a:spcAft>
                <a:spcPts val="1600"/>
              </a:spcAft>
            </a:pPr>
            <a:r>
              <a:rPr sz="1700" b="1" i="0">
                <a:solidFill>
                  <a:srgbClr val="222B24"/>
                </a:solidFill>
                <a:latin typeface="Calibri"/>
              </a:rPr>
              <a:t>No trust signal — </a:t>
            </a:r>
            <a:r>
              <a:rPr sz="1700" b="0" i="0">
                <a:solidFill>
                  <a:srgbClr val="222B24"/>
                </a:solidFill>
                <a:latin typeface="Calibri"/>
              </a:rPr>
              <a:t>two parties who have never met have no way to judge each other.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828800"/>
            <a:ext cx="3977639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📷  Photo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farm / mandi / market photo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RESEARCH-BACKED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The problem,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606040" cy="164592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800" b="1" i="0">
                <a:solidFill>
                  <a:srgbClr val="2F6B3A"/>
                </a:solidFill>
                <a:latin typeface="Calibri"/>
              </a:rPr>
              <a:t>100M+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22B24"/>
                </a:solidFill>
                <a:latin typeface="Calibri"/>
              </a:rPr>
              <a:t>farmer families in India — 9–10 crore receive PM-Kisan support every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828800"/>
            <a:ext cx="2606040" cy="164592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800" b="1" i="0">
                <a:solidFill>
                  <a:srgbClr val="D9A02B"/>
                </a:solidFill>
                <a:latin typeface="Calibri"/>
              </a:rPr>
              <a:t>33%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22B24"/>
                </a:solidFill>
                <a:latin typeface="Calibri"/>
              </a:rPr>
              <a:t>of the tomato price you pay reaches the farmer — dairy farmers get ~70%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828800"/>
            <a:ext cx="2606040" cy="164592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800" b="1" i="0">
                <a:solidFill>
                  <a:srgbClr val="2F6B3A"/>
                </a:solidFill>
                <a:latin typeface="Calibri"/>
              </a:rPr>
              <a:t>₹1.5 lakh cr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22B24"/>
                </a:solidFill>
                <a:latin typeface="Calibri"/>
              </a:rPr>
              <a:t>worth of food (~$17.7B) lost after harvest every single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657600"/>
            <a:ext cx="2606040" cy="164592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800" b="1" i="0">
                <a:solidFill>
                  <a:srgbClr val="D9A02B"/>
                </a:solidFill>
                <a:latin typeface="Calibri"/>
              </a:rPr>
              <a:t>30%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22B24"/>
                </a:solidFill>
                <a:latin typeface="Calibri"/>
              </a:rPr>
              <a:t>of perishable produce spoils before it ever reaches a consumer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657600"/>
            <a:ext cx="2606040" cy="164592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800" b="1" i="0">
                <a:solidFill>
                  <a:srgbClr val="2F6B3A"/>
                </a:solidFill>
                <a:latin typeface="Calibri"/>
              </a:rPr>
              <a:t>70%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22B24"/>
                </a:solidFill>
                <a:latin typeface="Calibri"/>
              </a:rPr>
              <a:t>of farmers have no cold storage nearby — ~10,000 reefer trucks serve all of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657600"/>
            <a:ext cx="2606040" cy="164592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800" b="1" i="0">
                <a:solidFill>
                  <a:srgbClr val="D9A02B"/>
                </a:solidFill>
                <a:latin typeface="Calibri"/>
              </a:rPr>
              <a:t>$28B</a:t>
            </a:r>
          </a:p>
          <a:p>
            <a:pPr>
              <a:spcBef>
                <a:spcPts val="400"/>
              </a:spcBef>
            </a:pPr>
            <a:r>
              <a:rPr sz="1100" b="0" i="0">
                <a:solidFill>
                  <a:srgbClr val="222B24"/>
                </a:solidFill>
                <a:latin typeface="Calibri"/>
              </a:rPr>
              <a:t>projected India agritech market by 2030, growing at ~25% CAGR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486400"/>
            <a:ext cx="8092440" cy="685800"/>
          </a:xfrm>
          <a:prstGeom prst="roundRect">
            <a:avLst>
              <a:gd name="adj" fmla="val 15000"/>
            </a:avLst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Transport drag: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logistics eats 9.1% of goods-sector output · trucks average 300 km/day vs 500–800 globally · ~40% of trucks run empty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828800"/>
            <a:ext cx="2697480" cy="4343400"/>
          </a:xfrm>
          <a:prstGeom prst="roundRect">
            <a:avLst>
              <a:gd name="adj" fmla="val 5000"/>
            </a:avLst>
          </a:prstGeom>
          <a:solidFill>
            <a:srgbClr val="F1F4EF"/>
          </a:solidFill>
          <a:ln w="12700">
            <a:solidFill>
              <a:srgbClr val="2F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37160"/>
          <a:lstStyle/>
          <a:p>
            <a:pPr algn="ctr">
              <a:spcAft>
                <a:spcPts val="700"/>
              </a:spcAft>
            </a:pPr>
            <a:r>
              <a:rPr sz="1200" b="1" i="0">
                <a:solidFill>
                  <a:srgbClr val="2F6B3A"/>
                </a:solidFill>
                <a:latin typeface="Calibri"/>
              </a:rPr>
              <a:t>SOURCES</a:t>
            </a:r>
          </a:p>
          <a:p>
            <a:pPr>
              <a:spcAft>
                <a:spcPts val="100"/>
              </a:spcAft>
            </a:pPr>
            <a:r>
              <a:rPr sz="950" b="0" i="0">
                <a:solidFill>
                  <a:srgbClr val="222B24"/>
                </a:solidFill>
                <a:latin typeface="Calibri"/>
              </a:rPr>
              <a:t>•  Farmer families — PM-KISAN / PIB</a:t>
            </a:r>
          </a:p>
          <a:p>
            <a:pPr>
              <a:spcAft>
                <a:spcPts val="700"/>
              </a:spcAft>
            </a:pPr>
            <a:r>
              <a:rPr sz="950" b="1" i="0">
                <a:solidFill>
                  <a:srgbClr val="2F6B3A"/>
                </a:solidFill>
                <a:latin typeface="Calibri"/>
                <a:hlinkClick r:id="rId2"/>
              </a:rPr>
              <a:t>    pib.gov.in  ↗</a:t>
            </a:r>
          </a:p>
          <a:p>
            <a:pPr>
              <a:spcAft>
                <a:spcPts val="100"/>
              </a:spcAft>
            </a:pPr>
            <a:r>
              <a:rPr sz="950" b="0" i="0">
                <a:solidFill>
                  <a:srgbClr val="222B24"/>
                </a:solidFill>
                <a:latin typeface="Calibri"/>
              </a:rPr>
              <a:t>•  Farmer share of consumer rupee — RBI Bulletin 2022</a:t>
            </a:r>
          </a:p>
          <a:p>
            <a:pPr>
              <a:spcAft>
                <a:spcPts val="700"/>
              </a:spcAft>
            </a:pPr>
            <a:r>
              <a:rPr sz="950" b="1" i="0">
                <a:solidFill>
                  <a:srgbClr val="2F6B3A"/>
                </a:solidFill>
                <a:latin typeface="Calibri"/>
                <a:hlinkClick r:id="rId3"/>
              </a:rPr>
              <a:t>    rbi.org.in  ↗</a:t>
            </a:r>
          </a:p>
          <a:p>
            <a:pPr>
              <a:spcAft>
                <a:spcPts val="100"/>
              </a:spcAft>
            </a:pPr>
            <a:r>
              <a:rPr sz="950" b="0" i="0">
                <a:solidFill>
                  <a:srgbClr val="222B24"/>
                </a:solidFill>
                <a:latin typeface="Calibri"/>
              </a:rPr>
              <a:t>•  Post-harvest losses — NABCONS / MoFPI 2022</a:t>
            </a:r>
          </a:p>
          <a:p>
            <a:pPr>
              <a:spcAft>
                <a:spcPts val="700"/>
              </a:spcAft>
            </a:pPr>
            <a:r>
              <a:rPr sz="950" b="1" i="0">
                <a:solidFill>
                  <a:srgbClr val="2F6B3A"/>
                </a:solidFill>
                <a:latin typeface="Calibri"/>
                <a:hlinkClick r:id="rId4"/>
              </a:rPr>
              <a:t>    pib.gov.in  ↗</a:t>
            </a:r>
          </a:p>
          <a:p>
            <a:pPr>
              <a:spcAft>
                <a:spcPts val="100"/>
              </a:spcAft>
            </a:pPr>
            <a:r>
              <a:rPr sz="950" b="0" i="0">
                <a:solidFill>
                  <a:srgbClr val="222B24"/>
                </a:solidFill>
                <a:latin typeface="Calibri"/>
              </a:rPr>
              <a:t>•  Cold chain &amp; spoilage — IBEF</a:t>
            </a:r>
          </a:p>
          <a:p>
            <a:pPr>
              <a:spcAft>
                <a:spcPts val="700"/>
              </a:spcAft>
            </a:pPr>
            <a:r>
              <a:rPr sz="950" b="1" i="0">
                <a:solidFill>
                  <a:srgbClr val="2F6B3A"/>
                </a:solidFill>
                <a:latin typeface="Calibri"/>
                <a:hlinkClick r:id="rId5"/>
              </a:rPr>
              <a:t>    ibef.org  ↗</a:t>
            </a:r>
          </a:p>
          <a:p>
            <a:pPr>
              <a:spcAft>
                <a:spcPts val="100"/>
              </a:spcAft>
            </a:pPr>
            <a:r>
              <a:rPr sz="950" b="0" i="0">
                <a:solidFill>
                  <a:srgbClr val="222B24"/>
                </a:solidFill>
                <a:latin typeface="Calibri"/>
              </a:rPr>
              <a:t>•  Transport &amp; logistics cost — DPIIT / NCAER 2023-24</a:t>
            </a:r>
          </a:p>
          <a:p>
            <a:pPr>
              <a:spcAft>
                <a:spcPts val="700"/>
              </a:spcAft>
            </a:pPr>
            <a:r>
              <a:rPr sz="950" b="1" i="0">
                <a:solidFill>
                  <a:srgbClr val="2F6B3A"/>
                </a:solidFill>
                <a:latin typeface="Calibri"/>
                <a:hlinkClick r:id="rId6"/>
              </a:rPr>
              <a:t>    ncaer.org  ↗</a:t>
            </a:r>
          </a:p>
          <a:p>
            <a:pPr>
              <a:spcAft>
                <a:spcPts val="100"/>
              </a:spcAft>
            </a:pPr>
            <a:r>
              <a:rPr sz="950" b="0" i="0">
                <a:solidFill>
                  <a:srgbClr val="222B24"/>
                </a:solidFill>
                <a:latin typeface="Calibri"/>
              </a:rPr>
              <a:t>•  Agritech market size — Inc42 2025</a:t>
            </a:r>
          </a:p>
          <a:p>
            <a:pPr>
              <a:spcAft>
                <a:spcPts val="700"/>
              </a:spcAft>
            </a:pPr>
            <a:r>
              <a:rPr sz="950" b="1" i="0">
                <a:solidFill>
                  <a:srgbClr val="2F6B3A"/>
                </a:solidFill>
                <a:latin typeface="Calibri"/>
                <a:hlinkClick r:id="rId7"/>
              </a:rPr>
              <a:t>    inc42.com  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THE SOLUTION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CropBid — one market, everyone trades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One open exchange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farmers, FPOs, traders, wholesalers, processors, retailers, restaurants and everyday consumers — anyone can list, anyone can bid.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Deals happen three ways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manual bidding, AI agents negotiating within user-set limits, or instant fixed-price consumer purchases.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Money is safe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the buyer pays into escrow (Razorpay); funds release to the seller only after delivery is confirmed.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Everything in one place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live govt mandi rates as a fair-price anchor, logistics, shipment tracking, and trust scores that grow with every deal.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251960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🖥  App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landing page / browse screen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HOW IT WORKS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Every deal follows one safe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474720" cy="16002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600" b="1" i="0">
                <a:solidFill>
                  <a:srgbClr val="2F6B3A"/>
                </a:solidFill>
                <a:latin typeface="Calibri"/>
              </a:rPr>
              <a:t>🤝  Manual path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222B24"/>
                </a:solidFill>
                <a:latin typeface="Calibri"/>
              </a:rPr>
              <a:t>Buyer browses listings and bids; the seller accepts, rejects, or counters — fully in the user's control.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474720" cy="16002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600" b="1" i="0">
                <a:solidFill>
                  <a:srgbClr val="2F6B3A"/>
                </a:solidFill>
                <a:latin typeface="Calibri"/>
              </a:rPr>
              <a:t>🤖  AI-agent path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222B24"/>
                </a:solidFill>
                <a:latin typeface="Calibri"/>
              </a:rPr>
              <a:t>Each side configures an agent once; the agents negotiate round by round within set price limits, until DEAL or NO_DEAL.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28800"/>
            <a:ext cx="3474720" cy="16002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600" b="1" i="0">
                <a:solidFill>
                  <a:srgbClr val="2F6B3A"/>
                </a:solidFill>
                <a:latin typeface="Calibri"/>
              </a:rPr>
              <a:t>🛒  Direct purchase (B2C)</a:t>
            </a:r>
          </a:p>
          <a:p>
            <a:pPr>
              <a:spcBef>
                <a:spcPts val="300"/>
              </a:spcBef>
            </a:pPr>
            <a:r>
              <a:rPr sz="1350" b="0" i="0">
                <a:solidFill>
                  <a:srgbClr val="222B24"/>
                </a:solidFill>
                <a:latin typeface="Calibri"/>
              </a:rPr>
              <a:t>The seller sets a fixed retail price; a consumer buys any quantity instantly — no negotiation.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B756C"/>
                </a:solidFill>
                <a:latin typeface="Calibri"/>
              </a:rPr>
              <a:t>Then, for every accepted deal:</a:t>
            </a:r>
          </a:p>
        </p:txBody>
      </p:sp>
      <p:sp>
        <p:nvSpPr>
          <p:cNvPr id="7" name="Chevron 6"/>
          <p:cNvSpPr/>
          <p:nvPr/>
        </p:nvSpPr>
        <p:spPr>
          <a:xfrm>
            <a:off x="594360" y="4114800"/>
            <a:ext cx="2395728" cy="1371600"/>
          </a:xfrm>
          <a:prstGeom prst="chevron">
            <a:avLst>
              <a:gd name="adj" fmla="val 28000"/>
            </a:avLst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1 · Deal struck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Escrow transaction created</a:t>
            </a:r>
          </a:p>
        </p:txBody>
      </p:sp>
      <p:sp>
        <p:nvSpPr>
          <p:cNvPr id="8" name="Chevron 7"/>
          <p:cNvSpPr/>
          <p:nvPr/>
        </p:nvSpPr>
        <p:spPr>
          <a:xfrm>
            <a:off x="2734056" y="4114800"/>
            <a:ext cx="2395728" cy="1371600"/>
          </a:xfrm>
          <a:prstGeom prst="chevron">
            <a:avLst>
              <a:gd name="adj" fmla="val 28000"/>
            </a:avLst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2 · Buyer pays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Razorpay → funds held in escrow</a:t>
            </a:r>
          </a:p>
        </p:txBody>
      </p:sp>
      <p:sp>
        <p:nvSpPr>
          <p:cNvPr id="9" name="Chevron 8"/>
          <p:cNvSpPr/>
          <p:nvPr/>
        </p:nvSpPr>
        <p:spPr>
          <a:xfrm>
            <a:off x="4873752" y="4114800"/>
            <a:ext cx="2395728" cy="1371600"/>
          </a:xfrm>
          <a:prstGeom prst="chevron">
            <a:avLst>
              <a:gd name="adj" fmla="val 28000"/>
            </a:avLst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3 · Crop ships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Logistics partner, tracked</a:t>
            </a:r>
          </a:p>
        </p:txBody>
      </p:sp>
      <p:sp>
        <p:nvSpPr>
          <p:cNvPr id="10" name="Chevron 9"/>
          <p:cNvSpPr/>
          <p:nvPr/>
        </p:nvSpPr>
        <p:spPr>
          <a:xfrm>
            <a:off x="7013448" y="4114800"/>
            <a:ext cx="2395728" cy="1371600"/>
          </a:xfrm>
          <a:prstGeom prst="chevron">
            <a:avLst>
              <a:gd name="adj" fmla="val 28000"/>
            </a:avLst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4 · Delivery confirmed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Buyer confirms receipt</a:t>
            </a:r>
          </a:p>
        </p:txBody>
      </p:sp>
      <p:sp>
        <p:nvSpPr>
          <p:cNvPr id="11" name="Chevron 10"/>
          <p:cNvSpPr/>
          <p:nvPr/>
        </p:nvSpPr>
        <p:spPr>
          <a:xfrm>
            <a:off x="9153144" y="4114800"/>
            <a:ext cx="2395728" cy="1371600"/>
          </a:xfrm>
          <a:prstGeom prst="chevron">
            <a:avLst>
              <a:gd name="adj" fmla="val 28000"/>
            </a:avLst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/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5 · Payment released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Seller paid · trust +2 both sides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756C"/>
                </a:solidFill>
                <a:latin typeface="Calibri"/>
              </a:rPr>
              <a:t>If anything goes wrong, an admin can refund the buyer — money never moves without protection.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THE HEADLINE FEATURE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AI agents that negotiate for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Configure once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negotiation style (Aggressive / Balanced / Conservative), price floor &amp; ceiling, preferred crops, quality needs, auto-accept threshold.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Agent-to-agent rounds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powered by Google Gemini, your agent trades offers and counters with the other side's agent.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Fully transparent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every round's offer, counter and reasoning is recorded and reviewable.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Safe by default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the fallback is always reject: if anything fails, no money moves and no commitment is made.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251960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🖥  App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negotiation rounds screen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REAL-TIME TRADING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Live auctions with anti-sniping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Any seller opens an auction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any listing can go live for real-time competitive bidding.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Buyers bid live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everyone in the auction room sees bids instantly over WebSocket.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Anti-sniping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a bid in the final seconds extends the clock by 30s, so no one wins by timing tricks.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Clean finish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highest bid at close wins and flows straight into the escrow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251960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🖥  App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live auction room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NEW — B2C CHANNEL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Direct-to-consumer sales at a fixed price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Any seller flips one switch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enable 'Sell directly to consumers' on any listing and set a fixed retail price per unit.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Consumers buy instantly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a dedicated consumer role picks a quantity and pays the fixed price — no bidding, no negotiation.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Stock stays honest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each sale atomically decrements the listing's remaining quantity; at zero it flips to SOLD.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Same safe pipeline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every purchase flows into the exact same escrow → ship → confirm → release path as a B2B deal.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251960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🖥  App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consumer 'Buy now' screen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TRUST BUILT IN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Escrow payments with Razorpay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743200" cy="17373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500" b="1" i="0">
                <a:solidFill>
                  <a:srgbClr val="2F6B3A"/>
                </a:solidFill>
                <a:latin typeface="Calibri"/>
              </a:rPr>
              <a:t>AWAITING PAYMENT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222B24"/>
                </a:solidFill>
                <a:latin typeface="Calibri"/>
              </a:rPr>
              <a:t>Deal struck — buyer is prompted to pay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38144" y="1874519"/>
            <a:ext cx="2743200" cy="1737360"/>
          </a:xfrm>
          <a:prstGeom prst="roundRect">
            <a:avLst>
              <a:gd name="adj" fmla="val 7000"/>
            </a:avLst>
          </a:prstGeom>
          <a:solidFill>
            <a:srgbClr val="2F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ESCROW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Buyer pays — funds captured and held by the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1874519"/>
            <a:ext cx="2743200" cy="1737360"/>
          </a:xfrm>
          <a:prstGeom prst="roundRect">
            <a:avLst>
              <a:gd name="adj" fmla="val 7000"/>
            </a:avLst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RELEASED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Delivery confirmed — seller paid, minus 2% platform fee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25712" y="1874519"/>
            <a:ext cx="2743200" cy="1737360"/>
          </a:xfrm>
          <a:prstGeom prst="roundRect">
            <a:avLst>
              <a:gd name="adj" fmla="val 7000"/>
            </a:avLst>
          </a:prstGeom>
          <a:solidFill>
            <a:srgbClr val="B5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REFUNDED</a:t>
            </a:r>
          </a:p>
          <a:p>
            <a:pPr>
              <a:spcBef>
                <a:spcPts val="3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Dispute — admin returns funds to the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50" b="1" i="0">
                <a:solidFill>
                  <a:srgbClr val="222B24"/>
                </a:solidFill>
                <a:latin typeface="Calibri"/>
              </a:rPr>
              <a:t>Money is held, not promised — </a:t>
            </a:r>
            <a:r>
              <a:rPr sz="1550" b="0" i="0">
                <a:solidFill>
                  <a:srgbClr val="222B24"/>
                </a:solidFill>
                <a:latin typeface="Calibri"/>
              </a:rPr>
              <a:t>the seller ships knowing payment is already secured.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222B24"/>
                </a:solidFill>
                <a:latin typeface="Calibri"/>
              </a:rPr>
              <a:t>Hardened flow — </a:t>
            </a:r>
            <a:r>
              <a:rPr sz="1550" b="0" i="0">
                <a:solidFill>
                  <a:srgbClr val="222B24"/>
                </a:solidFill>
                <a:latin typeface="Calibri"/>
              </a:rPr>
              <a:t>timing-safe HMAC signature verification, signed webhooks, and idempotent capture so a payment can never be double-processed.</a:t>
            </a:r>
          </a:p>
          <a:p>
            <a:pPr>
              <a:spcAft>
                <a:spcPts val="1200"/>
              </a:spcAft>
            </a:pPr>
            <a:r>
              <a:rPr sz="1550" b="1" i="0">
                <a:solidFill>
                  <a:srgbClr val="222B24"/>
                </a:solidFill>
                <a:latin typeface="Calibri"/>
              </a:rPr>
              <a:t>Free to demo — </a:t>
            </a:r>
            <a:r>
              <a:rPr sz="1550" b="0" i="0">
                <a:solidFill>
                  <a:srgbClr val="222B24"/>
                </a:solidFill>
                <a:latin typeface="Calibri"/>
              </a:rPr>
              <a:t>runs on Razorpay test mode: test cards &amp; UPI, no real money.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AFTER THE DEAL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Logistics, trust scores &amp; fair pricing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In-app logistics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pick a partner, get a transport quote, book the shipment, and track it to delivery.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Trust scores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both sides earn +2 on every completed deal, building reputation over time.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MSP price floor (India)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warns both sides when a listing is priced below the government Minimum Support Price.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Audit log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a tamper-evident record of every sensitive action: accepts, payments, refunds, admin edits.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828800"/>
            <a:ext cx="4251960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🖥  App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shipment tracking / dashboard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IN YOUR POCKET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Native mobile apps for every role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92024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Three dedicated apps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buyer, farmer and consumer experiences, built with Expo / React Native for iOS &amp; Android.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Buyers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browse listings, place bids, join live auctions, pay via escrow checkout.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Farmers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manage listings, handle incoming bids, ship crops and confirm delivery.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Consumers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browse retail listings and buy instantly at the farmer's fixed price.</a:t>
            </a:r>
          </a:p>
          <a:p>
            <a:pPr>
              <a:spcAft>
                <a:spcPts val="1500"/>
              </a:spcAft>
            </a:pPr>
            <a:r>
              <a:rPr sz="1650" b="1" i="0">
                <a:solidFill>
                  <a:srgbClr val="222B24"/>
                </a:solidFill>
                <a:latin typeface="Calibri"/>
              </a:rPr>
              <a:t>Same live backend — </a:t>
            </a:r>
            <a:r>
              <a:rPr sz="1650" b="0" i="0">
                <a:solidFill>
                  <a:srgbClr val="222B24"/>
                </a:solidFill>
                <a:latin typeface="Calibri"/>
              </a:rPr>
              <a:t>real-time notifications and auctions work on mobile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783080"/>
            <a:ext cx="2148840" cy="4434840"/>
          </a:xfrm>
          <a:prstGeom prst="roundRect">
            <a:avLst>
              <a:gd name="adj" fmla="val 90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📱 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farmer app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1783080"/>
            <a:ext cx="2148840" cy="4434840"/>
          </a:xfrm>
          <a:prstGeom prst="roundRect">
            <a:avLst>
              <a:gd name="adj" fmla="val 90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📱  Screenshot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buyer app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FOR EVERYONE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One exchange, every role in the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🌾  Farmers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List crops from the village with a floor price — live mandi rates mean never selling blind.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8436" y="187451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🤝  FPOs &amp; co-ops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Pool members’ harvests and sell aggregated lots at better prices.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87451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🚚  Traders &amp; aggregators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Buy lots in the morning, resell graded bulk by evening — one account, both sides.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02335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🏭  Processors &amp; exporters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Source verified produce at transparent, bid-discovered prices.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8436" y="402335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🏪  Wholesalers &amp; retailers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Restock straight from the source, escrow-protected on every deal.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402335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🍽  Restaurants &amp; hotels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Fresh produce sourced closer to the farm gate, tracked to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6588" y="187451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🛒  Consumers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Buy farm-fresh instantly at a fixed retail price — no bidding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76588" y="4023359"/>
            <a:ext cx="2738628" cy="196596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🎖  Roles are badges, not walls</a:t>
            </a:r>
          </a:p>
          <a:p>
            <a:pPr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Verified badges build trust — every account can list and every account can bid.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UNDER THE HOOD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Modern, production-grade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Frontend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React 19 · TypeScript · Tailwind CSS v4 · Vite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3128" y="182880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Mobile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Expo 56 · React Native 0.85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1896" y="182880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Backend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Express 5 · Prisma 7 ·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19272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Database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PostgreSQL 16 — Neon serverless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3319272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AI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Google Gemini — agent-to-agent negotiation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1896" y="3319272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Payments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Razorpay — escrow, signed webhooks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809744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Real-time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Socket.io — auctions &amp;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4809744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Auth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JWT dual-token — XSS-safe, httpOnly refresh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11896" y="4809744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1450" b="1" i="0">
                <a:solidFill>
                  <a:srgbClr val="2F6B3A"/>
                </a:solidFill>
                <a:latin typeface="Calibri"/>
              </a:rPr>
              <a:t>Hosting</a:t>
            </a:r>
          </a:p>
          <a:p>
            <a:pPr>
              <a:spcBef>
                <a:spcPts val="300"/>
              </a:spcBef>
            </a:pPr>
            <a:r>
              <a:rPr sz="1200" b="0" i="0">
                <a:solidFill>
                  <a:srgbClr val="222B24"/>
                </a:solidFill>
                <a:latin typeface="Calibri"/>
              </a:rPr>
              <a:t>Vercel (client) · Render (API) · Neon (DB)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2362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F6B3A"/>
                </a:solidFill>
                <a:latin typeface="Calibri"/>
              </a:rPr>
              <a:t>Live in production at cropbid.in — deployed, seeded and demo-ready.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2F6B3A"/>
                </a:solidFill>
                <a:latin typeface="Calibri"/>
              </a:rPr>
              <a:t>SEE IT LIVE</a:t>
            </a:r>
          </a:p>
          <a:p>
            <a:r>
              <a:rPr sz="3300" b="1" i="0">
                <a:solidFill>
                  <a:srgbClr val="222B24"/>
                </a:solidFill>
                <a:latin typeface="Calibri"/>
              </a:rPr>
              <a:t>Demo — cropbid.in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1481328"/>
            <a:ext cx="1051560" cy="57150"/>
          </a:xfrm>
          <a:prstGeom prst="round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0"/>
            <a:ext cx="6766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6B3A"/>
                </a:solidFill>
                <a:latin typeface="Calibri"/>
              </a:rPr>
              <a:t>🌐  cropbid.in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06040"/>
            <a:ext cx="6766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22B24"/>
                </a:solidFill>
                <a:latin typeface="Calibri"/>
              </a:rPr>
              <a:t>Demo flow — </a:t>
            </a:r>
            <a:r>
              <a:rPr sz="1500" b="0" i="0">
                <a:solidFill>
                  <a:srgbClr val="222B24"/>
                </a:solidFill>
                <a:latin typeface="Calibri"/>
              </a:rPr>
              <a:t>buyer places a bid → farmer accepts → buyer pays with a test card → crop ships → delivery confirmed → escrow released.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22B24"/>
                </a:solidFill>
                <a:latin typeface="Calibri"/>
              </a:rPr>
              <a:t>Consumer flow — </a:t>
            </a:r>
            <a:r>
              <a:rPr sz="1500" b="0" i="0">
                <a:solidFill>
                  <a:srgbClr val="222B24"/>
                </a:solidFill>
                <a:latin typeface="Calibri"/>
              </a:rPr>
              <a:t>consumer hits Buy now at the farmer’s fixed retail price → same escrow path, no bidding.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206240"/>
            <a:ext cx="1588770" cy="11430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🌾  Farmer</a:t>
            </a:r>
          </a:p>
          <a:p>
            <a:pPr algn="ctr"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rajesh@cropbid.test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20290" y="4206240"/>
            <a:ext cx="1588770" cy="11430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🏭  Buyer</a:t>
            </a:r>
          </a:p>
          <a:p>
            <a:pPr algn="ctr"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vikram@cropbid.test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6220" y="4206240"/>
            <a:ext cx="1588770" cy="11430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🛡  Admin</a:t>
            </a:r>
          </a:p>
          <a:p>
            <a:pPr algn="ctr"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admin@cropbid.test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72150" y="4206240"/>
            <a:ext cx="1588770" cy="1143000"/>
          </a:xfrm>
          <a:prstGeom prst="roundRect">
            <a:avLst>
              <a:gd name="adj" fmla="val 7000"/>
            </a:avLst>
          </a:prstGeom>
          <a:solidFill>
            <a:srgbClr val="E9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1440" bIns="91440"/>
          <a:lstStyle/>
          <a:p>
            <a:pPr algn="ctr"/>
            <a:r>
              <a:rPr sz="1400" b="1" i="0">
                <a:solidFill>
                  <a:srgbClr val="2F6B3A"/>
                </a:solidFill>
                <a:latin typeface="Calibri"/>
              </a:rPr>
              <a:t>🛒  Consumer</a:t>
            </a:r>
          </a:p>
          <a:p>
            <a:pPr algn="ctr">
              <a:spcBef>
                <a:spcPts val="300"/>
              </a:spcBef>
            </a:pPr>
            <a:r>
              <a:rPr sz="1150" b="0" i="0">
                <a:solidFill>
                  <a:srgbClr val="222B24"/>
                </a:solidFill>
                <a:latin typeface="Calibri"/>
              </a:rPr>
              <a:t>priya@cropbid.test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3212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6B756C"/>
                </a:solidFill>
                <a:latin typeface="Calibri"/>
              </a:rPr>
              <a:t>All test accounts use password  password123  ·  test card 4111 1111 1111 1111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703320" cy="4206240"/>
          </a:xfrm>
          <a:prstGeom prst="roundRect">
            <a:avLst>
              <a:gd name="adj" fmla="val 4500"/>
            </a:avLst>
          </a:prstGeom>
          <a:solidFill>
            <a:srgbClr val="F1F4EF"/>
          </a:solidFill>
          <a:ln w="19050">
            <a:solidFill>
              <a:srgbClr val="2F6B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8A938A"/>
                </a:solidFill>
                <a:latin typeface="Calibri"/>
              </a:rPr>
              <a:t>🖥  App screenshot or QR code</a:t>
            </a:r>
          </a:p>
          <a:p>
            <a:pPr algn="ctr"/>
            <a:r>
              <a:rPr sz="1150" b="0" i="1">
                <a:solidFill>
                  <a:srgbClr val="8A938A"/>
                </a:solidFill>
                <a:latin typeface="Calibri"/>
              </a:rPr>
              <a:t>add a QR to cropbid.in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56C"/>
                </a:solidFill>
                <a:latin typeface="Calibri"/>
              </a:rPr>
              <a:t>CropBid  ·  cropbid.in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56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A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D9A02B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E6D6"/>
                </a:solidFill>
                <a:latin typeface="Calibri"/>
              </a:rPr>
              <a:t>cropbid.in      ·      github.com/Hrishi75/CropBid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DC4A8"/>
                </a:solidFill>
                <a:latin typeface="Calibri"/>
              </a:rPr>
              <a:t>‹ your name · email · phone here 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