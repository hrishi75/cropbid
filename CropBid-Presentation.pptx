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F2D1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57200"/>
            <a:ext cx="45720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 i="0">
                <a:solidFill>
                  <a:srgbClr val="F4F1EA"/>
                </a:solidFill>
                <a:latin typeface="Helvetica Neue"/>
              </a:rPr>
              <a:t>CropBid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828800"/>
            <a:ext cx="10789920" cy="2011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5200" b="1" i="0">
                <a:solidFill>
                  <a:srgbClr val="F4F1EA"/>
                </a:solidFill>
                <a:latin typeface="Helvetica Neue"/>
              </a:rPr>
              <a:t>The crop exchange </a:t>
            </a:r>
          </a:p>
          <a:p>
            <a:pPr algn="l">
              <a:lnSpc>
                <a:spcPct val="102000"/>
              </a:lnSpc>
            </a:pPr>
            <a:r>
              <a:rPr sz="5200" b="0" i="1">
                <a:solidFill>
                  <a:srgbClr val="B6D493"/>
                </a:solidFill>
                <a:latin typeface="Georgia"/>
              </a:rPr>
              <a:t>for everyone.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3703320"/>
            <a:ext cx="896112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600" b="0" i="0">
                <a:solidFill>
                  <a:srgbClr val="DFE9D0"/>
                </a:solidFill>
                <a:latin typeface="Helvetica Neue"/>
              </a:rPr>
              <a:t>Farmers, traders, retailers and consumers — trading around live government mandi prices, with money held safe in escrow until delivery.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709160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 i="0">
                <a:solidFill>
                  <a:srgbClr val="DFE9D0"/>
                </a:solidFill>
                <a:latin typeface="Helvetica Neue"/>
              </a:rPr>
              <a:t>🌐 cropbid.in      ·      📱 Android &amp; iOS      ·      🇮🇳 built for India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5577840"/>
            <a:ext cx="3977639" cy="841248"/>
          </a:xfrm>
          <a:prstGeom prst="roundRect">
            <a:avLst>
              <a:gd name="adj" fmla="val 8000"/>
            </a:avLst>
          </a:prstGeom>
          <a:solidFill>
            <a:srgbClr val="FBF9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46304" rIns="146304" tIns="118872" bIns="118872"/>
          <a:lstStyle/>
          <a:p>
            <a:pPr algn="ctr"/>
          </a:p>
        </p:txBody>
      </p:sp>
      <p:pic>
        <p:nvPicPr>
          <p:cNvPr id="7" name="Picture 6" descr="india2047-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13232" y="5687568"/>
            <a:ext cx="621792" cy="621792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1481328" y="5742432"/>
            <a:ext cx="30175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850" b="1" i="0">
                <a:solidFill>
                  <a:srgbClr val="82806F"/>
                </a:solidFill>
                <a:latin typeface="Helvetica Neue"/>
              </a:rPr>
              <a:t>SUPPORTED BY</a:t>
            </a:r>
          </a:p>
          <a:p>
            <a:pPr algn="l">
              <a:lnSpc>
                <a:spcPct val="110000"/>
              </a:lnSpc>
            </a:pPr>
            <a:r>
              <a:rPr sz="1400" b="1" i="0">
                <a:solidFill>
                  <a:srgbClr val="14140F"/>
                </a:solidFill>
                <a:latin typeface="Helvetica Neue"/>
              </a:rPr>
              <a:t>India 2047 Ventures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863840" y="5989320"/>
            <a:ext cx="38404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 i="0">
                <a:solidFill>
                  <a:srgbClr val="DFE9D0"/>
                </a:solidFill>
                <a:latin typeface="Helvetica Neue"/>
              </a:rPr>
              <a:t>‹ your name · contact ›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1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84048"/>
            <a:ext cx="11155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i="0">
                <a:solidFill>
                  <a:srgbClr val="6B8E4E"/>
                </a:solidFill>
                <a:latin typeface="Helvetica Neue"/>
              </a:rPr>
              <a:t>WHY THIS MATTERS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658368"/>
            <a:ext cx="1115568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 i="0">
                <a:solidFill>
                  <a:srgbClr val="14140F"/>
                </a:solidFill>
                <a:latin typeface="Helvetica Neue"/>
              </a:rPr>
              <a:t>Selling a harvest is still a </a:t>
            </a:r>
            <a:r>
              <a:rPr sz="3000" b="0" i="1">
                <a:solidFill>
                  <a:srgbClr val="C8602B"/>
                </a:solidFill>
                <a:latin typeface="Georgia"/>
              </a:rPr>
              <a:t>blind trade</a:t>
            </a:r>
            <a:r>
              <a:rPr sz="3000" b="1" i="0">
                <a:solidFill>
                  <a:srgbClr val="14140F"/>
                </a:solidFill>
                <a:latin typeface="Helvetica Neue"/>
              </a:rPr>
              <a:t>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02920" y="1600200"/>
            <a:ext cx="5532120" cy="2084831"/>
          </a:xfrm>
          <a:prstGeom prst="roundRect">
            <a:avLst>
              <a:gd name="adj" fmla="val 8000"/>
            </a:avLst>
          </a:prstGeom>
          <a:solidFill>
            <a:srgbClr val="FBF9F3"/>
          </a:solidFill>
          <a:ln w="12700">
            <a:solidFill>
              <a:srgbClr val="E2DF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46304" rIns="146304" tIns="118872" bIns="118872"/>
          <a:lstStyle/>
          <a:p>
            <a:pPr algn="l">
              <a:lnSpc>
                <a:spcPct val="106000"/>
              </a:lnSpc>
            </a:pPr>
            <a:r>
              <a:rPr sz="2000" b="0" i="0">
                <a:solidFill>
                  <a:srgbClr val="14140F"/>
                </a:solidFill>
                <a:latin typeface="Helvetica Neue"/>
              </a:rPr>
              <a:t>💸  </a:t>
            </a:r>
            <a:r>
              <a:rPr sz="1700" b="1" i="0">
                <a:solidFill>
                  <a:srgbClr val="14140F"/>
                </a:solidFill>
                <a:latin typeface="Helvetica Neue"/>
              </a:rPr>
              <a:t>Opaque prices</a:t>
            </a:r>
          </a:p>
          <a:p>
            <a:pPr algn="l">
              <a:lnSpc>
                <a:spcPct val="106000"/>
              </a:lnSpc>
            </a:pPr>
            <a:r>
              <a:rPr sz="600" b="0" i="0">
                <a:solidFill>
                  <a:srgbClr val="14140F"/>
                </a:solidFill>
                <a:latin typeface="Helvetica Neue"/>
              </a:rPr>
              <a:t/>
            </a:r>
          </a:p>
          <a:p>
            <a:pPr algn="l">
              <a:lnSpc>
                <a:spcPct val="106000"/>
              </a:lnSpc>
            </a:pPr>
            <a:r>
              <a:rPr sz="1350" b="0" i="0">
                <a:solidFill>
                  <a:srgbClr val="4A4A3F"/>
                </a:solidFill>
                <a:latin typeface="Helvetica Neue"/>
              </a:rPr>
              <a:t>The grower captures only ~33% of what the consumer pays for tomato — the rest leaks into an invisible chain.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263640" y="1600200"/>
            <a:ext cx="5532120" cy="2084831"/>
          </a:xfrm>
          <a:prstGeom prst="roundRect">
            <a:avLst>
              <a:gd name="adj" fmla="val 8000"/>
            </a:avLst>
          </a:prstGeom>
          <a:solidFill>
            <a:srgbClr val="FBF9F3"/>
          </a:solidFill>
          <a:ln w="12700">
            <a:solidFill>
              <a:srgbClr val="E2DF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46304" rIns="146304" tIns="118872" bIns="118872"/>
          <a:lstStyle/>
          <a:p>
            <a:pPr algn="l">
              <a:lnSpc>
                <a:spcPct val="106000"/>
              </a:lnSpc>
            </a:pPr>
            <a:r>
              <a:rPr sz="2000" b="0" i="0">
                <a:solidFill>
                  <a:srgbClr val="14140F"/>
                </a:solidFill>
                <a:latin typeface="Helvetica Neue"/>
              </a:rPr>
              <a:t>🤝  </a:t>
            </a:r>
            <a:r>
              <a:rPr sz="1700" b="1" i="0">
                <a:solidFill>
                  <a:srgbClr val="14140F"/>
                </a:solidFill>
                <a:latin typeface="Helvetica Neue"/>
              </a:rPr>
              <a:t>Cold-start negotiations</a:t>
            </a:r>
          </a:p>
          <a:p>
            <a:pPr algn="l">
              <a:lnSpc>
                <a:spcPct val="106000"/>
              </a:lnSpc>
            </a:pPr>
            <a:r>
              <a:rPr sz="600" b="0" i="0">
                <a:solidFill>
                  <a:srgbClr val="14140F"/>
                </a:solidFill>
                <a:latin typeface="Helvetica Neue"/>
              </a:rPr>
              <a:t/>
            </a:r>
          </a:p>
          <a:p>
            <a:pPr algn="l">
              <a:lnSpc>
                <a:spcPct val="106000"/>
              </a:lnSpc>
            </a:pPr>
            <a:r>
              <a:rPr sz="1350" b="0" i="0">
                <a:solidFill>
                  <a:srgbClr val="4A4A3F"/>
                </a:solidFill>
                <a:latin typeface="Helvetica Neue"/>
              </a:rPr>
              <a:t>No shared price anchor: every deal starts from a guess, and the least-informed party — usually the farmer — loses.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3913631"/>
            <a:ext cx="5532120" cy="2084831"/>
          </a:xfrm>
          <a:prstGeom prst="roundRect">
            <a:avLst>
              <a:gd name="adj" fmla="val 8000"/>
            </a:avLst>
          </a:prstGeom>
          <a:solidFill>
            <a:srgbClr val="FBF9F3"/>
          </a:solidFill>
          <a:ln w="12700">
            <a:solidFill>
              <a:srgbClr val="E2DF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46304" rIns="146304" tIns="118872" bIns="118872"/>
          <a:lstStyle/>
          <a:p>
            <a:pPr algn="l">
              <a:lnSpc>
                <a:spcPct val="106000"/>
              </a:lnSpc>
            </a:pPr>
            <a:r>
              <a:rPr sz="2000" b="0" i="0">
                <a:solidFill>
                  <a:srgbClr val="14140F"/>
                </a:solidFill>
                <a:latin typeface="Helvetica Neue"/>
              </a:rPr>
              <a:t>⏳  </a:t>
            </a:r>
            <a:r>
              <a:rPr sz="1700" b="1" i="0">
                <a:solidFill>
                  <a:srgbClr val="14140F"/>
                </a:solidFill>
                <a:latin typeface="Helvetica Neue"/>
              </a:rPr>
              <a:t>Payment risk</a:t>
            </a:r>
          </a:p>
          <a:p>
            <a:pPr algn="l">
              <a:lnSpc>
                <a:spcPct val="106000"/>
              </a:lnSpc>
            </a:pPr>
            <a:r>
              <a:rPr sz="600" b="0" i="0">
                <a:solidFill>
                  <a:srgbClr val="14140F"/>
                </a:solidFill>
                <a:latin typeface="Helvetica Neue"/>
              </a:rPr>
              <a:t/>
            </a:r>
          </a:p>
          <a:p>
            <a:pPr algn="l">
              <a:lnSpc>
                <a:spcPct val="106000"/>
              </a:lnSpc>
            </a:pPr>
            <a:r>
              <a:rPr sz="1350" b="0" i="0">
                <a:solidFill>
                  <a:srgbClr val="4A4A3F"/>
                </a:solidFill>
                <a:latin typeface="Helvetica Neue"/>
              </a:rPr>
              <a:t>Sellers ship first and chase payments later. Defaults and delays are priced into every single trade.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263640" y="3913631"/>
            <a:ext cx="5532120" cy="2084831"/>
          </a:xfrm>
          <a:prstGeom prst="roundRect">
            <a:avLst>
              <a:gd name="adj" fmla="val 8000"/>
            </a:avLst>
          </a:prstGeom>
          <a:solidFill>
            <a:srgbClr val="FBF9F3"/>
          </a:solidFill>
          <a:ln w="12700">
            <a:solidFill>
              <a:srgbClr val="E2DF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46304" rIns="146304" tIns="118872" bIns="118872"/>
          <a:lstStyle/>
          <a:p>
            <a:pPr algn="l">
              <a:lnSpc>
                <a:spcPct val="106000"/>
              </a:lnSpc>
            </a:pPr>
            <a:r>
              <a:rPr sz="2000" b="0" i="0">
                <a:solidFill>
                  <a:srgbClr val="14140F"/>
                </a:solidFill>
                <a:latin typeface="Helvetica Neue"/>
              </a:rPr>
              <a:t>🚛  </a:t>
            </a:r>
            <a:r>
              <a:rPr sz="1700" b="1" i="0">
                <a:solidFill>
                  <a:srgbClr val="14140F"/>
                </a:solidFill>
                <a:latin typeface="Helvetica Neue"/>
              </a:rPr>
              <a:t>Broken logistics &amp; storage</a:t>
            </a:r>
          </a:p>
          <a:p>
            <a:pPr algn="l">
              <a:lnSpc>
                <a:spcPct val="106000"/>
              </a:lnSpc>
            </a:pPr>
            <a:r>
              <a:rPr sz="600" b="0" i="0">
                <a:solidFill>
                  <a:srgbClr val="14140F"/>
                </a:solidFill>
                <a:latin typeface="Helvetica Neue"/>
              </a:rPr>
              <a:t/>
            </a:r>
          </a:p>
          <a:p>
            <a:pPr algn="l">
              <a:lnSpc>
                <a:spcPct val="106000"/>
              </a:lnSpc>
            </a:pPr>
            <a:r>
              <a:rPr sz="1350" b="0" i="0">
                <a:solidFill>
                  <a:srgbClr val="4A4A3F"/>
                </a:solidFill>
                <a:latin typeface="Helvetica Neue"/>
              </a:rPr>
              <a:t>₹1.5 lakh crore of food is lost after harvest every year; ~30% of perishables never reach a plate.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5989320"/>
            <a:ext cx="1115568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 i="0">
                <a:solidFill>
                  <a:srgbClr val="82806F"/>
                </a:solidFill>
                <a:latin typeface="Helvetica Neue"/>
              </a:rPr>
              <a:t>Sources: RBI Bulletin 2022 (farmer share of consumer rupee) · NABCONS / MoFPI 2022 (post-harvest losses) · IBEF (cold chain &amp; spoilage)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" y="6473952"/>
            <a:ext cx="3657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 i="0">
                <a:solidFill>
                  <a:srgbClr val="82806F"/>
                </a:solidFill>
                <a:latin typeface="Helvetica Neue"/>
              </a:rPr>
              <a:t>CropBid · cropbid.in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430000" y="6473952"/>
            <a:ext cx="3200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950" b="0" i="0">
                <a:solidFill>
                  <a:srgbClr val="82806F"/>
                </a:solidFill>
                <a:latin typeface="Helvetica Neue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1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84048"/>
            <a:ext cx="11155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i="0">
                <a:solidFill>
                  <a:srgbClr val="6B8E4E"/>
                </a:solidFill>
                <a:latin typeface="Helvetica Neue"/>
              </a:rPr>
              <a:t>WHAT WE BUILT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658368"/>
            <a:ext cx="1115568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 i="0">
                <a:solidFill>
                  <a:srgbClr val="14140F"/>
                </a:solidFill>
                <a:latin typeface="Helvetica Neue"/>
              </a:rPr>
              <a:t>One exchange, </a:t>
            </a:r>
            <a:r>
              <a:rPr sz="3000" b="0" i="1">
                <a:solidFill>
                  <a:srgbClr val="6B8E4E"/>
                </a:solidFill>
                <a:latin typeface="Georgia"/>
              </a:rPr>
              <a:t>everything a deal needs</a:t>
            </a:r>
            <a:r>
              <a:rPr sz="3000" b="1" i="0">
                <a:solidFill>
                  <a:srgbClr val="14140F"/>
                </a:solidFill>
                <a:latin typeface="Helvetica Neue"/>
              </a:rPr>
              <a:t>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02920" y="1572768"/>
            <a:ext cx="3639312" cy="1938528"/>
          </a:xfrm>
          <a:prstGeom prst="roundRect">
            <a:avLst>
              <a:gd name="adj" fmla="val 8000"/>
            </a:avLst>
          </a:prstGeom>
          <a:solidFill>
            <a:srgbClr val="FBF9F3"/>
          </a:solidFill>
          <a:ln w="12700">
            <a:solidFill>
              <a:srgbClr val="E2DF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46304" rIns="146304" tIns="118872" bIns="118872"/>
          <a:lstStyle/>
          <a:p>
            <a:pPr algn="l">
              <a:lnSpc>
                <a:spcPct val="106000"/>
              </a:lnSpc>
            </a:pPr>
            <a:r>
              <a:rPr sz="1600" b="0" i="0">
                <a:solidFill>
                  <a:srgbClr val="14140F"/>
                </a:solidFill>
                <a:latin typeface="Helvetica Neue"/>
              </a:rPr>
              <a:t>📊  </a:t>
            </a:r>
            <a:r>
              <a:rPr sz="1450" b="1" i="0">
                <a:solidFill>
                  <a:srgbClr val="14140F"/>
                </a:solidFill>
                <a:latin typeface="Helvetica Neue"/>
              </a:rPr>
              <a:t>Live govt mandi rates</a:t>
            </a:r>
          </a:p>
          <a:p>
            <a:pPr algn="l">
              <a:lnSpc>
                <a:spcPct val="106000"/>
              </a:lnSpc>
            </a:pPr>
            <a:r>
              <a:rPr sz="500" b="0" i="0">
                <a:solidFill>
                  <a:srgbClr val="14140F"/>
                </a:solidFill>
                <a:latin typeface="Helvetica Neue"/>
              </a:rPr>
              <a:t/>
            </a:r>
          </a:p>
          <a:p>
            <a:pPr algn="l">
              <a:lnSpc>
                <a:spcPct val="106000"/>
              </a:lnSpc>
            </a:pPr>
            <a:r>
              <a:rPr sz="1150" b="0" i="0">
                <a:solidFill>
                  <a:srgbClr val="4A4A3F"/>
                </a:solidFill>
                <a:latin typeface="Helvetica Neue"/>
              </a:rPr>
              <a:t>Real wholesale prices from 4,600+ regulated mandis (Agmarknet) on every listing — market-wise detail, every state, refreshed daily.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315968" y="1572768"/>
            <a:ext cx="3639312" cy="1938528"/>
          </a:xfrm>
          <a:prstGeom prst="roundRect">
            <a:avLst>
              <a:gd name="adj" fmla="val 8000"/>
            </a:avLst>
          </a:prstGeom>
          <a:solidFill>
            <a:srgbClr val="FBF9F3"/>
          </a:solidFill>
          <a:ln w="12700">
            <a:solidFill>
              <a:srgbClr val="E2DF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46304" rIns="146304" tIns="118872" bIns="118872"/>
          <a:lstStyle/>
          <a:p>
            <a:pPr algn="l">
              <a:lnSpc>
                <a:spcPct val="106000"/>
              </a:lnSpc>
            </a:pPr>
            <a:r>
              <a:rPr sz="1600" b="0" i="0">
                <a:solidFill>
                  <a:srgbClr val="14140F"/>
                </a:solidFill>
                <a:latin typeface="Helvetica Neue"/>
              </a:rPr>
              <a:t>🔨  </a:t>
            </a:r>
            <a:r>
              <a:rPr sz="1450" b="1" i="0">
                <a:solidFill>
                  <a:srgbClr val="14140F"/>
                </a:solidFill>
                <a:latin typeface="Helvetica Neue"/>
              </a:rPr>
              <a:t>Open bidding &amp; live auctions</a:t>
            </a:r>
          </a:p>
          <a:p>
            <a:pPr algn="l">
              <a:lnSpc>
                <a:spcPct val="106000"/>
              </a:lnSpc>
            </a:pPr>
            <a:r>
              <a:rPr sz="500" b="0" i="0">
                <a:solidFill>
                  <a:srgbClr val="14140F"/>
                </a:solidFill>
                <a:latin typeface="Helvetica Neue"/>
              </a:rPr>
              <a:t/>
            </a:r>
          </a:p>
          <a:p>
            <a:pPr algn="l">
              <a:lnSpc>
                <a:spcPct val="106000"/>
              </a:lnSpc>
            </a:pPr>
            <a:r>
              <a:rPr sz="1150" b="0" i="0">
                <a:solidFill>
                  <a:srgbClr val="4A4A3F"/>
                </a:solidFill>
                <a:latin typeface="Helvetica Neue"/>
              </a:rPr>
              <a:t>Buyers bid around the live anchor in transparent rounds; real-time auction rooms with anti-sniping.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129016" y="1572768"/>
            <a:ext cx="3639312" cy="1938528"/>
          </a:xfrm>
          <a:prstGeom prst="roundRect">
            <a:avLst>
              <a:gd name="adj" fmla="val 8000"/>
            </a:avLst>
          </a:prstGeom>
          <a:solidFill>
            <a:srgbClr val="FBF9F3"/>
          </a:solidFill>
          <a:ln w="12700">
            <a:solidFill>
              <a:srgbClr val="E2DF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46304" rIns="146304" tIns="118872" bIns="118872"/>
          <a:lstStyle/>
          <a:p>
            <a:pPr algn="l">
              <a:lnSpc>
                <a:spcPct val="106000"/>
              </a:lnSpc>
            </a:pPr>
            <a:r>
              <a:rPr sz="1600" b="0" i="0">
                <a:solidFill>
                  <a:srgbClr val="14140F"/>
                </a:solidFill>
                <a:latin typeface="Helvetica Neue"/>
              </a:rPr>
              <a:t>🛡️  </a:t>
            </a:r>
            <a:r>
              <a:rPr sz="1450" b="1" i="0">
                <a:solidFill>
                  <a:srgbClr val="14140F"/>
                </a:solidFill>
                <a:latin typeface="Helvetica Neue"/>
              </a:rPr>
              <a:t>Escrow payments</a:t>
            </a:r>
          </a:p>
          <a:p>
            <a:pPr algn="l">
              <a:lnSpc>
                <a:spcPct val="106000"/>
              </a:lnSpc>
            </a:pPr>
            <a:r>
              <a:rPr sz="500" b="0" i="0">
                <a:solidFill>
                  <a:srgbClr val="14140F"/>
                </a:solidFill>
                <a:latin typeface="Helvetica Neue"/>
              </a:rPr>
              <a:t/>
            </a:r>
          </a:p>
          <a:p>
            <a:pPr algn="l">
              <a:lnSpc>
                <a:spcPct val="106000"/>
              </a:lnSpc>
            </a:pPr>
            <a:r>
              <a:rPr sz="1150" b="0" i="0">
                <a:solidFill>
                  <a:srgbClr val="4A4A3F"/>
                </a:solidFill>
                <a:latin typeface="Helvetica Neue"/>
              </a:rPr>
              <a:t>Razorpay holds the money; it releases only on confirmed delivery. Nothing moves without protection.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2920" y="3685032"/>
            <a:ext cx="3639312" cy="1938528"/>
          </a:xfrm>
          <a:prstGeom prst="roundRect">
            <a:avLst>
              <a:gd name="adj" fmla="val 8000"/>
            </a:avLst>
          </a:prstGeom>
          <a:solidFill>
            <a:srgbClr val="FBF9F3"/>
          </a:solidFill>
          <a:ln w="12700">
            <a:solidFill>
              <a:srgbClr val="E2DF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46304" rIns="146304" tIns="118872" bIns="118872"/>
          <a:lstStyle/>
          <a:p>
            <a:pPr algn="l">
              <a:lnSpc>
                <a:spcPct val="106000"/>
              </a:lnSpc>
            </a:pPr>
            <a:r>
              <a:rPr sz="1600" b="0" i="0">
                <a:solidFill>
                  <a:srgbClr val="14140F"/>
                </a:solidFill>
                <a:latin typeface="Helvetica Neue"/>
              </a:rPr>
              <a:t>🛒  </a:t>
            </a:r>
            <a:r>
              <a:rPr sz="1450" b="1" i="0">
                <a:solidFill>
                  <a:srgbClr val="14140F"/>
                </a:solidFill>
                <a:latin typeface="Helvetica Neue"/>
              </a:rPr>
              <a:t>Direct retail channel</a:t>
            </a:r>
          </a:p>
          <a:p>
            <a:pPr algn="l">
              <a:lnSpc>
                <a:spcPct val="106000"/>
              </a:lnSpc>
            </a:pPr>
            <a:r>
              <a:rPr sz="500" b="0" i="0">
                <a:solidFill>
                  <a:srgbClr val="14140F"/>
                </a:solidFill>
                <a:latin typeface="Helvetica Neue"/>
              </a:rPr>
              <a:t/>
            </a:r>
          </a:p>
          <a:p>
            <a:pPr algn="l">
              <a:lnSpc>
                <a:spcPct val="106000"/>
              </a:lnSpc>
            </a:pPr>
            <a:r>
              <a:rPr sz="1150" b="0" i="0">
                <a:solidFill>
                  <a:srgbClr val="4A4A3F"/>
                </a:solidFill>
                <a:latin typeface="Helvetica Neue"/>
              </a:rPr>
              <a:t>Farmers flip on retail with a fixed price; consumers buy any quantity instantly — farm to home, no bidding.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315968" y="3685032"/>
            <a:ext cx="3639312" cy="1938528"/>
          </a:xfrm>
          <a:prstGeom prst="roundRect">
            <a:avLst>
              <a:gd name="adj" fmla="val 8000"/>
            </a:avLst>
          </a:prstGeom>
          <a:solidFill>
            <a:srgbClr val="FBF9F3"/>
          </a:solidFill>
          <a:ln w="12700">
            <a:solidFill>
              <a:srgbClr val="E2DF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46304" rIns="146304" tIns="118872" bIns="118872"/>
          <a:lstStyle/>
          <a:p>
            <a:pPr algn="l">
              <a:lnSpc>
                <a:spcPct val="106000"/>
              </a:lnSpc>
            </a:pPr>
            <a:r>
              <a:rPr sz="1600" b="0" i="0">
                <a:solidFill>
                  <a:srgbClr val="14140F"/>
                </a:solidFill>
                <a:latin typeface="Helvetica Neue"/>
              </a:rPr>
              <a:t>🏛️  </a:t>
            </a:r>
            <a:r>
              <a:rPr sz="1450" b="1" i="0">
                <a:solidFill>
                  <a:srgbClr val="14140F"/>
                </a:solidFill>
                <a:latin typeface="Helvetica Neue"/>
              </a:rPr>
              <a:t>Sarkari Yojana hub</a:t>
            </a:r>
          </a:p>
          <a:p>
            <a:pPr algn="l">
              <a:lnSpc>
                <a:spcPct val="106000"/>
              </a:lnSpc>
            </a:pPr>
            <a:r>
              <a:rPr sz="500" b="0" i="0">
                <a:solidFill>
                  <a:srgbClr val="14140F"/>
                </a:solidFill>
                <a:latin typeface="Helvetica Neue"/>
              </a:rPr>
              <a:t/>
            </a:r>
          </a:p>
          <a:p>
            <a:pPr algn="l">
              <a:lnSpc>
                <a:spcPct val="106000"/>
              </a:lnSpc>
            </a:pPr>
            <a:r>
              <a:rPr sz="1150" b="0" i="0">
                <a:solidFill>
                  <a:srgbClr val="4A4A3F"/>
                </a:solidFill>
                <a:latin typeface="Helvetica Neue"/>
              </a:rPr>
              <a:t>12 major govt schemes searchable in English &amp; Hindi — what you get, who qualifies, how to apply.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129016" y="3685032"/>
            <a:ext cx="3639312" cy="1938528"/>
          </a:xfrm>
          <a:prstGeom prst="roundRect">
            <a:avLst>
              <a:gd name="adj" fmla="val 8000"/>
            </a:avLst>
          </a:prstGeom>
          <a:solidFill>
            <a:srgbClr val="FBF9F3"/>
          </a:solidFill>
          <a:ln w="12700">
            <a:solidFill>
              <a:srgbClr val="E2DF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46304" rIns="146304" tIns="118872" bIns="118872"/>
          <a:lstStyle/>
          <a:p>
            <a:pPr algn="l">
              <a:lnSpc>
                <a:spcPct val="106000"/>
              </a:lnSpc>
            </a:pPr>
            <a:r>
              <a:rPr sz="1600" b="0" i="0">
                <a:solidFill>
                  <a:srgbClr val="14140F"/>
                </a:solidFill>
                <a:latin typeface="Helvetica Neue"/>
              </a:rPr>
              <a:t>⭐  </a:t>
            </a:r>
            <a:r>
              <a:rPr sz="1450" b="1" i="0">
                <a:solidFill>
                  <a:srgbClr val="14140F"/>
                </a:solidFill>
                <a:latin typeface="Helvetica Neue"/>
              </a:rPr>
              <a:t>Trust layer</a:t>
            </a:r>
          </a:p>
          <a:p>
            <a:pPr algn="l">
              <a:lnSpc>
                <a:spcPct val="106000"/>
              </a:lnSpc>
            </a:pPr>
            <a:r>
              <a:rPr sz="500" b="0" i="0">
                <a:solidFill>
                  <a:srgbClr val="14140F"/>
                </a:solidFill>
                <a:latin typeface="Helvetica Neue"/>
              </a:rPr>
              <a:t/>
            </a:r>
          </a:p>
          <a:p>
            <a:pPr algn="l">
              <a:lnSpc>
                <a:spcPct val="106000"/>
              </a:lnSpc>
            </a:pPr>
            <a:r>
              <a:rPr sz="1150" b="0" i="0">
                <a:solidFill>
                  <a:srgbClr val="4A4A3F"/>
                </a:solidFill>
                <a:latin typeface="Helvetica Neue"/>
              </a:rPr>
              <a:t>Verified profiles and trust scores that grow with every completed deal — strangers can trade safely.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920" y="5806440"/>
            <a:ext cx="111556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 i="0">
                <a:solidFill>
                  <a:srgbClr val="4A4A3F"/>
                </a:solidFill>
                <a:latin typeface="Helvetica Neue"/>
              </a:rPr>
              <a:t>Live in production at cropbid.in — grocery-style storefront on web, native apps for farmer, buyer &amp; consumer. Guests browse everything free.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2920" y="6473952"/>
            <a:ext cx="3657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 i="0">
                <a:solidFill>
                  <a:srgbClr val="82806F"/>
                </a:solidFill>
                <a:latin typeface="Helvetica Neue"/>
              </a:rPr>
              <a:t>CropBid · cropbid.in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430000" y="6473952"/>
            <a:ext cx="3200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950" b="0" i="0">
                <a:solidFill>
                  <a:srgbClr val="82806F"/>
                </a:solidFill>
                <a:latin typeface="Helvetica Neue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1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84048"/>
            <a:ext cx="11155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i="0">
                <a:solidFill>
                  <a:srgbClr val="6B8E4E"/>
                </a:solidFill>
                <a:latin typeface="Helvetica Neue"/>
              </a:rPr>
              <a:t>HOW IT WORKS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658368"/>
            <a:ext cx="1115568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 i="0">
                <a:solidFill>
                  <a:srgbClr val="14140F"/>
                </a:solidFill>
                <a:latin typeface="Helvetica Neue"/>
              </a:rPr>
              <a:t>Every deal follows </a:t>
            </a:r>
            <a:r>
              <a:rPr sz="3000" b="0" i="1">
                <a:solidFill>
                  <a:srgbClr val="6B8E4E"/>
                </a:solidFill>
                <a:latin typeface="Georgia"/>
              </a:rPr>
              <a:t>one safe path</a:t>
            </a:r>
            <a:r>
              <a:rPr sz="3000" b="1" i="0">
                <a:solidFill>
                  <a:srgbClr val="14140F"/>
                </a:solidFill>
                <a:latin typeface="Helvetica Neue"/>
              </a:rPr>
              <a:t>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02920" y="1828800"/>
            <a:ext cx="2157984" cy="2834640"/>
          </a:xfrm>
          <a:prstGeom prst="roundRect">
            <a:avLst>
              <a:gd name="adj" fmla="val 8000"/>
            </a:avLst>
          </a:prstGeom>
          <a:solidFill>
            <a:srgbClr val="FBF9F3"/>
          </a:solidFill>
          <a:ln w="12700">
            <a:solidFill>
              <a:srgbClr val="E2DF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46304" rIns="146304" tIns="118872" bIns="118872"/>
          <a:lstStyle/>
          <a:p>
            <a:pPr algn="l">
              <a:lnSpc>
                <a:spcPct val="106000"/>
              </a:lnSpc>
            </a:pPr>
            <a:r>
              <a:rPr sz="2400" b="1" i="0">
                <a:solidFill>
                  <a:srgbClr val="6B8E4E"/>
                </a:solidFill>
                <a:latin typeface="Helvetica Neue"/>
              </a:rPr>
              <a:t>1</a:t>
            </a:r>
          </a:p>
          <a:p>
            <a:pPr algn="l">
              <a:lnSpc>
                <a:spcPct val="106000"/>
              </a:lnSpc>
            </a:pPr>
            <a:r>
              <a:rPr sz="400" b="0" i="0">
                <a:solidFill>
                  <a:srgbClr val="14140F"/>
                </a:solidFill>
                <a:latin typeface="Helvetica Neue"/>
              </a:rPr>
              <a:t/>
            </a:r>
          </a:p>
          <a:p>
            <a:pPr algn="l">
              <a:lnSpc>
                <a:spcPct val="106000"/>
              </a:lnSpc>
            </a:pPr>
            <a:r>
              <a:rPr sz="1350" b="1" i="0">
                <a:solidFill>
                  <a:srgbClr val="14140F"/>
                </a:solidFill>
                <a:latin typeface="Helvetica Neue"/>
              </a:rPr>
              <a:t>List from the farm</a:t>
            </a:r>
          </a:p>
          <a:p>
            <a:pPr algn="l">
              <a:lnSpc>
                <a:spcPct val="106000"/>
              </a:lnSpc>
            </a:pPr>
            <a:r>
              <a:rPr sz="400" b="0" i="0">
                <a:solidFill>
                  <a:srgbClr val="14140F"/>
                </a:solidFill>
                <a:latin typeface="Helvetica Neue"/>
              </a:rPr>
              <a:t/>
            </a:r>
          </a:p>
          <a:p>
            <a:pPr algn="l">
              <a:lnSpc>
                <a:spcPct val="106000"/>
              </a:lnSpc>
            </a:pPr>
            <a:r>
              <a:rPr sz="1100" b="0" i="0">
                <a:solidFill>
                  <a:srgbClr val="4A4A3F"/>
                </a:solidFill>
                <a:latin typeface="Helvetica Neue"/>
              </a:rPr>
              <a:t>Crop, grade, quantity and a floor price — no mandi trip, priced to today’s live rate.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802635" y="1828800"/>
            <a:ext cx="2157984" cy="2834640"/>
          </a:xfrm>
          <a:prstGeom prst="roundRect">
            <a:avLst>
              <a:gd name="adj" fmla="val 8000"/>
            </a:avLst>
          </a:prstGeom>
          <a:solidFill>
            <a:srgbClr val="FBF9F3"/>
          </a:solidFill>
          <a:ln w="12700">
            <a:solidFill>
              <a:srgbClr val="E2DF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46304" rIns="146304" tIns="118872" bIns="118872"/>
          <a:lstStyle/>
          <a:p>
            <a:pPr algn="l">
              <a:lnSpc>
                <a:spcPct val="106000"/>
              </a:lnSpc>
            </a:pPr>
            <a:r>
              <a:rPr sz="2400" b="1" i="0">
                <a:solidFill>
                  <a:srgbClr val="6B8E4E"/>
                </a:solidFill>
                <a:latin typeface="Helvetica Neue"/>
              </a:rPr>
              <a:t>2</a:t>
            </a:r>
          </a:p>
          <a:p>
            <a:pPr algn="l">
              <a:lnSpc>
                <a:spcPct val="106000"/>
              </a:lnSpc>
            </a:pPr>
            <a:r>
              <a:rPr sz="400" b="0" i="0">
                <a:solidFill>
                  <a:srgbClr val="14140F"/>
                </a:solidFill>
                <a:latin typeface="Helvetica Neue"/>
              </a:rPr>
              <a:t/>
            </a:r>
          </a:p>
          <a:p>
            <a:pPr algn="l">
              <a:lnSpc>
                <a:spcPct val="106000"/>
              </a:lnSpc>
            </a:pPr>
            <a:r>
              <a:rPr sz="1350" b="1" i="0">
                <a:solidFill>
                  <a:srgbClr val="14140F"/>
                </a:solidFill>
                <a:latin typeface="Helvetica Neue"/>
              </a:rPr>
              <a:t>Bid around the anchor</a:t>
            </a:r>
          </a:p>
          <a:p>
            <a:pPr algn="l">
              <a:lnSpc>
                <a:spcPct val="106000"/>
              </a:lnSpc>
            </a:pPr>
            <a:r>
              <a:rPr sz="400" b="0" i="0">
                <a:solidFill>
                  <a:srgbClr val="14140F"/>
                </a:solidFill>
                <a:latin typeface="Helvetica Neue"/>
              </a:rPr>
              <a:t/>
            </a:r>
          </a:p>
          <a:p>
            <a:pPr algn="l">
              <a:lnSpc>
                <a:spcPct val="106000"/>
              </a:lnSpc>
            </a:pPr>
            <a:r>
              <a:rPr sz="1100" b="0" i="0">
                <a:solidFill>
                  <a:srgbClr val="4A4A3F"/>
                </a:solidFill>
                <a:latin typeface="Helvetica Neue"/>
              </a:rPr>
              <a:t>Buyers bid in the open — or buy instantly at the listed price. Everyone sees the same live number.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102351" y="1828800"/>
            <a:ext cx="2157984" cy="2834640"/>
          </a:xfrm>
          <a:prstGeom prst="roundRect">
            <a:avLst>
              <a:gd name="adj" fmla="val 8000"/>
            </a:avLst>
          </a:prstGeom>
          <a:solidFill>
            <a:srgbClr val="FBF9F3"/>
          </a:solidFill>
          <a:ln w="12700">
            <a:solidFill>
              <a:srgbClr val="E2DF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46304" rIns="146304" tIns="118872" bIns="118872"/>
          <a:lstStyle/>
          <a:p>
            <a:pPr algn="l">
              <a:lnSpc>
                <a:spcPct val="106000"/>
              </a:lnSpc>
            </a:pPr>
            <a:r>
              <a:rPr sz="2400" b="1" i="0">
                <a:solidFill>
                  <a:srgbClr val="6B8E4E"/>
                </a:solidFill>
                <a:latin typeface="Helvetica Neue"/>
              </a:rPr>
              <a:t>3</a:t>
            </a:r>
          </a:p>
          <a:p>
            <a:pPr algn="l">
              <a:lnSpc>
                <a:spcPct val="106000"/>
              </a:lnSpc>
            </a:pPr>
            <a:r>
              <a:rPr sz="400" b="0" i="0">
                <a:solidFill>
                  <a:srgbClr val="14140F"/>
                </a:solidFill>
                <a:latin typeface="Helvetica Neue"/>
              </a:rPr>
              <a:t/>
            </a:r>
          </a:p>
          <a:p>
            <a:pPr algn="l">
              <a:lnSpc>
                <a:spcPct val="106000"/>
              </a:lnSpc>
            </a:pPr>
            <a:r>
              <a:rPr sz="1350" b="1" i="0">
                <a:solidFill>
                  <a:srgbClr val="14140F"/>
                </a:solidFill>
                <a:latin typeface="Helvetica Neue"/>
              </a:rPr>
              <a:t>Pay into escrow</a:t>
            </a:r>
          </a:p>
          <a:p>
            <a:pPr algn="l">
              <a:lnSpc>
                <a:spcPct val="106000"/>
              </a:lnSpc>
            </a:pPr>
            <a:r>
              <a:rPr sz="400" b="0" i="0">
                <a:solidFill>
                  <a:srgbClr val="14140F"/>
                </a:solidFill>
                <a:latin typeface="Helvetica Neue"/>
              </a:rPr>
              <a:t/>
            </a:r>
          </a:p>
          <a:p>
            <a:pPr algn="l">
              <a:lnSpc>
                <a:spcPct val="106000"/>
              </a:lnSpc>
            </a:pPr>
            <a:r>
              <a:rPr sz="1100" b="0" i="0">
                <a:solidFill>
                  <a:srgbClr val="4A4A3F"/>
                </a:solidFill>
                <a:latin typeface="Helvetica Neue"/>
              </a:rPr>
              <a:t>The buyer pays; Razorpay holds the money on-platform. The seller ships knowing it’s secured.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402067" y="1828800"/>
            <a:ext cx="2157984" cy="2834640"/>
          </a:xfrm>
          <a:prstGeom prst="roundRect">
            <a:avLst>
              <a:gd name="adj" fmla="val 8000"/>
            </a:avLst>
          </a:prstGeom>
          <a:solidFill>
            <a:srgbClr val="FBF9F3"/>
          </a:solidFill>
          <a:ln w="12700">
            <a:solidFill>
              <a:srgbClr val="E2DF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46304" rIns="146304" tIns="118872" bIns="118872"/>
          <a:lstStyle/>
          <a:p>
            <a:pPr algn="l">
              <a:lnSpc>
                <a:spcPct val="106000"/>
              </a:lnSpc>
            </a:pPr>
            <a:r>
              <a:rPr sz="2400" b="1" i="0">
                <a:solidFill>
                  <a:srgbClr val="6B8E4E"/>
                </a:solidFill>
                <a:latin typeface="Helvetica Neue"/>
              </a:rPr>
              <a:t>4</a:t>
            </a:r>
          </a:p>
          <a:p>
            <a:pPr algn="l">
              <a:lnSpc>
                <a:spcPct val="106000"/>
              </a:lnSpc>
            </a:pPr>
            <a:r>
              <a:rPr sz="400" b="0" i="0">
                <a:solidFill>
                  <a:srgbClr val="14140F"/>
                </a:solidFill>
                <a:latin typeface="Helvetica Neue"/>
              </a:rPr>
              <a:t/>
            </a:r>
          </a:p>
          <a:p>
            <a:pPr algn="l">
              <a:lnSpc>
                <a:spcPct val="106000"/>
              </a:lnSpc>
            </a:pPr>
            <a:r>
              <a:rPr sz="1350" b="1" i="0">
                <a:solidFill>
                  <a:srgbClr val="14140F"/>
                </a:solidFill>
                <a:latin typeface="Helvetica Neue"/>
              </a:rPr>
              <a:t>Ship, status tracked</a:t>
            </a:r>
          </a:p>
          <a:p>
            <a:pPr algn="l">
              <a:lnSpc>
                <a:spcPct val="106000"/>
              </a:lnSpc>
            </a:pPr>
            <a:r>
              <a:rPr sz="400" b="0" i="0">
                <a:solidFill>
                  <a:srgbClr val="14140F"/>
                </a:solidFill>
                <a:latin typeface="Helvetica Neue"/>
              </a:rPr>
              <a:t/>
            </a:r>
          </a:p>
          <a:p>
            <a:pPr algn="l">
              <a:lnSpc>
                <a:spcPct val="106000"/>
              </a:lnSpc>
            </a:pPr>
            <a:r>
              <a:rPr sz="1100" b="0" i="0">
                <a:solidFill>
                  <a:srgbClr val="4A4A3F"/>
                </a:solidFill>
                <a:latin typeface="Helvetica Neue"/>
              </a:rPr>
              <a:t>The seller ships the lot; every deal moves through a tracked flow — paid → shipped → delivered.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9701784" y="1828800"/>
            <a:ext cx="2157984" cy="2834640"/>
          </a:xfrm>
          <a:prstGeom prst="roundRect">
            <a:avLst>
              <a:gd name="adj" fmla="val 8000"/>
            </a:avLst>
          </a:prstGeom>
          <a:solidFill>
            <a:srgbClr val="FBF9F3"/>
          </a:solidFill>
          <a:ln w="12700">
            <a:solidFill>
              <a:srgbClr val="E2DF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46304" rIns="146304" tIns="118872" bIns="118872"/>
          <a:lstStyle/>
          <a:p>
            <a:pPr algn="l">
              <a:lnSpc>
                <a:spcPct val="106000"/>
              </a:lnSpc>
            </a:pPr>
            <a:r>
              <a:rPr sz="2400" b="1" i="0">
                <a:solidFill>
                  <a:srgbClr val="6B8E4E"/>
                </a:solidFill>
                <a:latin typeface="Helvetica Neue"/>
              </a:rPr>
              <a:t>5</a:t>
            </a:r>
          </a:p>
          <a:p>
            <a:pPr algn="l">
              <a:lnSpc>
                <a:spcPct val="106000"/>
              </a:lnSpc>
            </a:pPr>
            <a:r>
              <a:rPr sz="400" b="0" i="0">
                <a:solidFill>
                  <a:srgbClr val="14140F"/>
                </a:solidFill>
                <a:latin typeface="Helvetica Neue"/>
              </a:rPr>
              <a:t/>
            </a:r>
          </a:p>
          <a:p>
            <a:pPr algn="l">
              <a:lnSpc>
                <a:spcPct val="106000"/>
              </a:lnSpc>
            </a:pPr>
            <a:r>
              <a:rPr sz="1350" b="1" i="0">
                <a:solidFill>
                  <a:srgbClr val="14140F"/>
                </a:solidFill>
                <a:latin typeface="Helvetica Neue"/>
              </a:rPr>
              <a:t>Deliver → release</a:t>
            </a:r>
          </a:p>
          <a:p>
            <a:pPr algn="l">
              <a:lnSpc>
                <a:spcPct val="106000"/>
              </a:lnSpc>
            </a:pPr>
            <a:r>
              <a:rPr sz="400" b="0" i="0">
                <a:solidFill>
                  <a:srgbClr val="14140F"/>
                </a:solidFill>
                <a:latin typeface="Helvetica Neue"/>
              </a:rPr>
              <a:t/>
            </a:r>
          </a:p>
          <a:p>
            <a:pPr algn="l">
              <a:lnSpc>
                <a:spcPct val="106000"/>
              </a:lnSpc>
            </a:pPr>
            <a:r>
              <a:rPr sz="1100" b="0" i="0">
                <a:solidFill>
                  <a:srgbClr val="4A4A3F"/>
                </a:solidFill>
                <a:latin typeface="Helvetica Neue"/>
              </a:rPr>
              <a:t>Buyer confirms receipt; the seller is paid minus the 2% platform fee. Trust +2 for both.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02920" y="5029200"/>
            <a:ext cx="11183112" cy="685800"/>
          </a:xfrm>
          <a:prstGeom prst="roundRect">
            <a:avLst>
              <a:gd name="adj" fmla="val 8000"/>
            </a:avLst>
          </a:prstGeom>
          <a:solidFill>
            <a:srgbClr val="2A3B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rIns="146304" tIns="118872" bIns="118872"/>
          <a:lstStyle/>
          <a:p>
            <a:pPr algn="ctr">
              <a:lnSpc>
                <a:spcPct val="106000"/>
              </a:lnSpc>
            </a:pPr>
            <a:r>
              <a:rPr sz="1350" b="0" i="0">
                <a:solidFill>
                  <a:srgbClr val="DFE9D0"/>
                </a:solidFill>
                <a:latin typeface="Helvetica Neue"/>
              </a:rPr>
              <a:t>If anything goes wrong, an admin can refund the buyer — money never moves without protection.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920" y="6473952"/>
            <a:ext cx="3657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 i="0">
                <a:solidFill>
                  <a:srgbClr val="82806F"/>
                </a:solidFill>
                <a:latin typeface="Helvetica Neue"/>
              </a:rPr>
              <a:t>CropBid · cropbid.in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430000" y="6473952"/>
            <a:ext cx="3200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950" b="0" i="0">
                <a:solidFill>
                  <a:srgbClr val="82806F"/>
                </a:solidFill>
                <a:latin typeface="Helvetica Neue"/>
              </a:rP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F2D1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84048"/>
            <a:ext cx="11155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i="0">
                <a:solidFill>
                  <a:srgbClr val="B6D493"/>
                </a:solidFill>
                <a:latin typeface="Helvetica Neue"/>
              </a:rPr>
              <a:t>BUSINESS MODEL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658368"/>
            <a:ext cx="1115568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 i="0">
                <a:solidFill>
                  <a:srgbClr val="F4F1EA"/>
                </a:solidFill>
                <a:latin typeface="Helvetica Neue"/>
              </a:rPr>
              <a:t>Asset-light by design — </a:t>
            </a:r>
            <a:r>
              <a:rPr sz="3000" b="0" i="1">
                <a:solidFill>
                  <a:srgbClr val="B6D493"/>
                </a:solidFill>
                <a:latin typeface="Georgia"/>
              </a:rPr>
              <a:t>we move the money, never the crop</a:t>
            </a:r>
            <a:r>
              <a:rPr sz="3000" b="1" i="0">
                <a:solidFill>
                  <a:srgbClr val="F4F1EA"/>
                </a:solidFill>
                <a:latin typeface="Helvetica Neue"/>
              </a:rPr>
              <a:t>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02920" y="1691640"/>
            <a:ext cx="2697480" cy="2514600"/>
          </a:xfrm>
          <a:prstGeom prst="roundRect">
            <a:avLst>
              <a:gd name="adj" fmla="val 8000"/>
            </a:avLst>
          </a:prstGeom>
          <a:solidFill>
            <a:srgbClr val="2A3B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46304" rIns="146304" tIns="118872" bIns="118872"/>
          <a:lstStyle/>
          <a:p>
            <a:pPr algn="l">
              <a:lnSpc>
                <a:spcPct val="106000"/>
              </a:lnSpc>
            </a:pPr>
            <a:r>
              <a:rPr sz="2000" b="0" i="0">
                <a:solidFill>
                  <a:srgbClr val="F4F1EA"/>
                </a:solidFill>
                <a:latin typeface="Helvetica Neue"/>
              </a:rPr>
              <a:t>💰</a:t>
            </a:r>
          </a:p>
          <a:p>
            <a:pPr algn="l">
              <a:lnSpc>
                <a:spcPct val="106000"/>
              </a:lnSpc>
            </a:pPr>
            <a:r>
              <a:rPr sz="900" b="1" i="0">
                <a:solidFill>
                  <a:srgbClr val="B6D493"/>
                </a:solidFill>
                <a:latin typeface="Helvetica Neue"/>
              </a:rPr>
              <a:t>LIVE TODAY</a:t>
            </a:r>
          </a:p>
          <a:p>
            <a:pPr algn="l">
              <a:lnSpc>
                <a:spcPct val="106000"/>
              </a:lnSpc>
            </a:pPr>
            <a:r>
              <a:rPr sz="1500" b="1" i="0">
                <a:solidFill>
                  <a:srgbClr val="F4F1EA"/>
                </a:solidFill>
                <a:latin typeface="Helvetica Neue"/>
              </a:rPr>
              <a:t>2% settlement fee</a:t>
            </a:r>
          </a:p>
          <a:p>
            <a:pPr algn="l">
              <a:lnSpc>
                <a:spcPct val="106000"/>
              </a:lnSpc>
            </a:pPr>
            <a:r>
              <a:rPr sz="400" b="0" i="0">
                <a:solidFill>
                  <a:srgbClr val="F4F1EA"/>
                </a:solidFill>
                <a:latin typeface="Helvetica Neue"/>
              </a:rPr>
              <a:t/>
            </a:r>
          </a:p>
          <a:p>
            <a:pPr algn="l">
              <a:lnSpc>
                <a:spcPct val="106000"/>
              </a:lnSpc>
            </a:pPr>
            <a:r>
              <a:rPr sz="1150" b="0" i="0">
                <a:solidFill>
                  <a:srgbClr val="DFE9D0"/>
                </a:solidFill>
                <a:latin typeface="Helvetica Neue"/>
              </a:rPr>
              <a:t>On every escrow release — the core take rate on all trade cleared through the platform.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3346704" y="1691640"/>
            <a:ext cx="2697480" cy="2514600"/>
          </a:xfrm>
          <a:prstGeom prst="roundRect">
            <a:avLst>
              <a:gd name="adj" fmla="val 8000"/>
            </a:avLst>
          </a:prstGeom>
          <a:solidFill>
            <a:srgbClr val="2A3B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46304" rIns="146304" tIns="118872" bIns="118872"/>
          <a:lstStyle/>
          <a:p>
            <a:pPr algn="l">
              <a:lnSpc>
                <a:spcPct val="106000"/>
              </a:lnSpc>
            </a:pPr>
            <a:r>
              <a:rPr sz="2000" b="0" i="0">
                <a:solidFill>
                  <a:srgbClr val="F4F1EA"/>
                </a:solidFill>
                <a:latin typeface="Helvetica Neue"/>
              </a:rPr>
              <a:t>🚚</a:t>
            </a:r>
          </a:p>
          <a:p>
            <a:pPr algn="l">
              <a:lnSpc>
                <a:spcPct val="106000"/>
              </a:lnSpc>
            </a:pPr>
            <a:r>
              <a:rPr sz="900" b="1" i="0">
                <a:solidFill>
                  <a:srgbClr val="DFE9D0"/>
                </a:solidFill>
                <a:latin typeface="Helvetica Neue"/>
              </a:rPr>
              <a:t>NEXT</a:t>
            </a:r>
          </a:p>
          <a:p>
            <a:pPr algn="l">
              <a:lnSpc>
                <a:spcPct val="106000"/>
              </a:lnSpc>
            </a:pPr>
            <a:r>
              <a:rPr sz="1500" b="1" i="0">
                <a:solidFill>
                  <a:srgbClr val="F4F1EA"/>
                </a:solidFill>
                <a:latin typeface="Helvetica Neue"/>
              </a:rPr>
              <a:t>Logistics margin</a:t>
            </a:r>
          </a:p>
          <a:p>
            <a:pPr algn="l">
              <a:lnSpc>
                <a:spcPct val="106000"/>
              </a:lnSpc>
            </a:pPr>
            <a:r>
              <a:rPr sz="400" b="0" i="0">
                <a:solidFill>
                  <a:srgbClr val="F4F1EA"/>
                </a:solidFill>
                <a:latin typeface="Helvetica Neue"/>
              </a:rPr>
              <a:t/>
            </a:r>
          </a:p>
          <a:p>
            <a:pPr algn="l">
              <a:lnSpc>
                <a:spcPct val="106000"/>
              </a:lnSpc>
            </a:pPr>
            <a:r>
              <a:rPr sz="1150" b="0" i="0">
                <a:solidFill>
                  <a:srgbClr val="DFE9D0"/>
                </a:solidFill>
                <a:latin typeface="Helvetica Neue"/>
              </a:rPr>
              <a:t>Commission on shipments once the transport-partner network goes live, starting with our pilot district.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190488" y="1691640"/>
            <a:ext cx="2697480" cy="2514600"/>
          </a:xfrm>
          <a:prstGeom prst="roundRect">
            <a:avLst>
              <a:gd name="adj" fmla="val 8000"/>
            </a:avLst>
          </a:prstGeom>
          <a:solidFill>
            <a:srgbClr val="2A3B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46304" rIns="146304" tIns="118872" bIns="118872"/>
          <a:lstStyle/>
          <a:p>
            <a:pPr algn="l">
              <a:lnSpc>
                <a:spcPct val="106000"/>
              </a:lnSpc>
            </a:pPr>
            <a:r>
              <a:rPr sz="2000" b="0" i="0">
                <a:solidFill>
                  <a:srgbClr val="F4F1EA"/>
                </a:solidFill>
                <a:latin typeface="Helvetica Neue"/>
              </a:rPr>
              <a:t>📈</a:t>
            </a:r>
          </a:p>
          <a:p>
            <a:pPr algn="l">
              <a:lnSpc>
                <a:spcPct val="106000"/>
              </a:lnSpc>
            </a:pPr>
            <a:r>
              <a:rPr sz="900" b="1" i="0">
                <a:solidFill>
                  <a:srgbClr val="DFE9D0"/>
                </a:solidFill>
                <a:latin typeface="Helvetica Neue"/>
              </a:rPr>
              <a:t>NEXT</a:t>
            </a:r>
          </a:p>
          <a:p>
            <a:pPr algn="l">
              <a:lnSpc>
                <a:spcPct val="106000"/>
              </a:lnSpc>
            </a:pPr>
            <a:r>
              <a:rPr sz="1500" b="1" i="0">
                <a:solidFill>
                  <a:srgbClr val="F4F1EA"/>
                </a:solidFill>
                <a:latin typeface="Helvetica Neue"/>
              </a:rPr>
              <a:t>Premium tools</a:t>
            </a:r>
          </a:p>
          <a:p>
            <a:pPr algn="l">
              <a:lnSpc>
                <a:spcPct val="106000"/>
              </a:lnSpc>
            </a:pPr>
            <a:r>
              <a:rPr sz="400" b="0" i="0">
                <a:solidFill>
                  <a:srgbClr val="F4F1EA"/>
                </a:solidFill>
                <a:latin typeface="Helvetica Neue"/>
              </a:rPr>
              <a:t/>
            </a:r>
          </a:p>
          <a:p>
            <a:pPr algn="l">
              <a:lnSpc>
                <a:spcPct val="106000"/>
              </a:lnSpc>
            </a:pPr>
            <a:r>
              <a:rPr sz="1150" b="0" i="0">
                <a:solidFill>
                  <a:srgbClr val="DFE9D0"/>
                </a:solidFill>
                <a:latin typeface="Helvetica Neue"/>
              </a:rPr>
              <a:t>Placement, sourcing dashboards and analytics for buyers, processors and FPOs.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9034272" y="1691640"/>
            <a:ext cx="2697480" cy="2514600"/>
          </a:xfrm>
          <a:prstGeom prst="roundRect">
            <a:avLst>
              <a:gd name="adj" fmla="val 8000"/>
            </a:avLst>
          </a:prstGeom>
          <a:solidFill>
            <a:srgbClr val="2A3B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46304" rIns="146304" tIns="118872" bIns="118872"/>
          <a:lstStyle/>
          <a:p>
            <a:pPr algn="l">
              <a:lnSpc>
                <a:spcPct val="106000"/>
              </a:lnSpc>
            </a:pPr>
            <a:r>
              <a:rPr sz="2000" b="0" i="0">
                <a:solidFill>
                  <a:srgbClr val="F4F1EA"/>
                </a:solidFill>
                <a:latin typeface="Helvetica Neue"/>
              </a:rPr>
              <a:t>🏦</a:t>
            </a:r>
          </a:p>
          <a:p>
            <a:pPr algn="l">
              <a:lnSpc>
                <a:spcPct val="106000"/>
              </a:lnSpc>
            </a:pPr>
            <a:r>
              <a:rPr sz="900" b="1" i="0">
                <a:solidFill>
                  <a:srgbClr val="DFE9D0"/>
                </a:solidFill>
                <a:latin typeface="Helvetica Neue"/>
              </a:rPr>
              <a:t>LATER</a:t>
            </a:r>
          </a:p>
          <a:p>
            <a:pPr algn="l">
              <a:lnSpc>
                <a:spcPct val="106000"/>
              </a:lnSpc>
            </a:pPr>
            <a:r>
              <a:rPr sz="1500" b="1" i="0">
                <a:solidFill>
                  <a:srgbClr val="F4F1EA"/>
                </a:solidFill>
                <a:latin typeface="Helvetica Neue"/>
              </a:rPr>
              <a:t>Financing rails</a:t>
            </a:r>
          </a:p>
          <a:p>
            <a:pPr algn="l">
              <a:lnSpc>
                <a:spcPct val="106000"/>
              </a:lnSpc>
            </a:pPr>
            <a:r>
              <a:rPr sz="400" b="0" i="0">
                <a:solidFill>
                  <a:srgbClr val="F4F1EA"/>
                </a:solidFill>
                <a:latin typeface="Helvetica Neue"/>
              </a:rPr>
              <a:t/>
            </a:r>
          </a:p>
          <a:p>
            <a:pPr algn="l">
              <a:lnSpc>
                <a:spcPct val="106000"/>
              </a:lnSpc>
            </a:pPr>
            <a:r>
              <a:rPr sz="1150" b="0" i="0">
                <a:solidFill>
                  <a:srgbClr val="DFE9D0"/>
                </a:solidFill>
                <a:latin typeface="Helvetica Neue"/>
              </a:rPr>
              <a:t>Working-capital and purchase credit with NBFC partners — underwritten by on-platform trade and trust history.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4617720"/>
            <a:ext cx="11155680" cy="1188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450" b="1" i="0">
                <a:solidFill>
                  <a:srgbClr val="B6D493"/>
                </a:solidFill>
                <a:latin typeface="Helvetica Neue"/>
              </a:rPr>
              <a:t>Why it compounds: </a:t>
            </a:r>
            <a:r>
              <a:rPr sz="1450" b="0" i="0">
                <a:solidFill>
                  <a:srgbClr val="DFE9D0"/>
                </a:solidFill>
                <a:latin typeface="Helvetica Neue"/>
              </a:rPr>
              <a:t>every hop in the chain — farmer → trader → wholesaler → retailer — can clear on-platform, and each hop is a fee event. </a:t>
            </a:r>
            <a:r>
              <a:rPr sz="1450" b="1" i="0">
                <a:solidFill>
                  <a:srgbClr val="F4F1EA"/>
                </a:solidFill>
                <a:latin typeface="Helvetica Neue"/>
              </a:rPr>
              <a:t>No warehouses, no inventory, no spoilage on our books.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" y="6473952"/>
            <a:ext cx="3657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 i="0">
                <a:solidFill>
                  <a:srgbClr val="DFE9D0"/>
                </a:solidFill>
                <a:latin typeface="Helvetica Neue"/>
              </a:rPr>
              <a:t>CropBid · cropbid.in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430000" y="6473952"/>
            <a:ext cx="3200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950" b="0" i="0">
                <a:solidFill>
                  <a:srgbClr val="DFE9D0"/>
                </a:solidFill>
                <a:latin typeface="Helvetica Neue"/>
              </a:rP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1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84048"/>
            <a:ext cx="11155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i="0">
                <a:solidFill>
                  <a:srgbClr val="6B8E4E"/>
                </a:solidFill>
                <a:latin typeface="Helvetica Neue"/>
              </a:rPr>
              <a:t>MARKET &amp; EDGE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658368"/>
            <a:ext cx="1115568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 i="0">
                <a:solidFill>
                  <a:srgbClr val="14140F"/>
                </a:solidFill>
                <a:latin typeface="Helvetica Neue"/>
              </a:rPr>
              <a:t>A huge market, </a:t>
            </a:r>
            <a:r>
              <a:rPr sz="3000" b="0" i="1">
                <a:solidFill>
                  <a:srgbClr val="6B8E4E"/>
                </a:solidFill>
                <a:latin typeface="Georgia"/>
              </a:rPr>
              <a:t>an empty seat</a:t>
            </a:r>
            <a:r>
              <a:rPr sz="3000" b="1" i="0">
                <a:solidFill>
                  <a:srgbClr val="14140F"/>
                </a:solidFill>
                <a:latin typeface="Helvetica Neue"/>
              </a:rPr>
              <a:t>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02920" y="1600200"/>
            <a:ext cx="3749039" cy="1316736"/>
          </a:xfrm>
          <a:prstGeom prst="roundRect">
            <a:avLst>
              <a:gd name="adj" fmla="val 8000"/>
            </a:avLst>
          </a:prstGeom>
          <a:solidFill>
            <a:srgbClr val="FBF9F3"/>
          </a:solidFill>
          <a:ln w="12700">
            <a:solidFill>
              <a:srgbClr val="E2DF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46304" rIns="146304" tIns="118872" bIns="118872"/>
          <a:lstStyle/>
          <a:p>
            <a:pPr algn="l">
              <a:lnSpc>
                <a:spcPct val="106000"/>
              </a:lnSpc>
            </a:pPr>
            <a:r>
              <a:rPr sz="2600" b="1" i="0">
                <a:solidFill>
                  <a:srgbClr val="6B8E4E"/>
                </a:solidFill>
                <a:latin typeface="Helvetica Neue"/>
              </a:rPr>
              <a:t>$28B</a:t>
            </a:r>
          </a:p>
          <a:p>
            <a:pPr algn="l">
              <a:lnSpc>
                <a:spcPct val="106000"/>
              </a:lnSpc>
            </a:pPr>
            <a:r>
              <a:rPr sz="1150" b="0" i="0">
                <a:solidFill>
                  <a:srgbClr val="4A4A3F"/>
                </a:solidFill>
                <a:latin typeface="Helvetica Neue"/>
              </a:rPr>
              <a:t>India agritech by 2030, growing ~25% CAGR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02920" y="3081528"/>
            <a:ext cx="3749039" cy="1316736"/>
          </a:xfrm>
          <a:prstGeom prst="roundRect">
            <a:avLst>
              <a:gd name="adj" fmla="val 8000"/>
            </a:avLst>
          </a:prstGeom>
          <a:solidFill>
            <a:srgbClr val="FBF9F3"/>
          </a:solidFill>
          <a:ln w="12700">
            <a:solidFill>
              <a:srgbClr val="E2DF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46304" rIns="146304" tIns="118872" bIns="118872"/>
          <a:lstStyle/>
          <a:p>
            <a:pPr algn="l">
              <a:lnSpc>
                <a:spcPct val="106000"/>
              </a:lnSpc>
            </a:pPr>
            <a:r>
              <a:rPr sz="2600" b="1" i="0">
                <a:solidFill>
                  <a:srgbClr val="6B8E4E"/>
                </a:solidFill>
                <a:latin typeface="Helvetica Neue"/>
              </a:rPr>
              <a:t>100M+</a:t>
            </a:r>
          </a:p>
          <a:p>
            <a:pPr algn="l">
              <a:lnSpc>
                <a:spcPct val="106000"/>
              </a:lnSpc>
            </a:pPr>
            <a:r>
              <a:rPr sz="1150" b="0" i="0">
                <a:solidFill>
                  <a:srgbClr val="4A4A3F"/>
                </a:solidFill>
                <a:latin typeface="Helvetica Neue"/>
              </a:rPr>
              <a:t>farmer families — the largest underserved seller base in the country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4562856"/>
            <a:ext cx="3749039" cy="1316736"/>
          </a:xfrm>
          <a:prstGeom prst="roundRect">
            <a:avLst>
              <a:gd name="adj" fmla="val 8000"/>
            </a:avLst>
          </a:prstGeom>
          <a:solidFill>
            <a:srgbClr val="FBF9F3"/>
          </a:solidFill>
          <a:ln w="12700">
            <a:solidFill>
              <a:srgbClr val="E2DF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46304" rIns="146304" tIns="118872" bIns="118872"/>
          <a:lstStyle/>
          <a:p>
            <a:pPr algn="l">
              <a:lnSpc>
                <a:spcPct val="106000"/>
              </a:lnSpc>
            </a:pPr>
            <a:r>
              <a:rPr sz="2600" b="1" i="0">
                <a:solidFill>
                  <a:srgbClr val="6B8E4E"/>
                </a:solidFill>
                <a:latin typeface="Helvetica Neue"/>
              </a:rPr>
              <a:t>4,600+</a:t>
            </a:r>
          </a:p>
          <a:p>
            <a:pPr algn="l">
              <a:lnSpc>
                <a:spcPct val="106000"/>
              </a:lnSpc>
            </a:pPr>
            <a:r>
              <a:rPr sz="1150" b="0" i="0">
                <a:solidFill>
                  <a:srgbClr val="4A4A3F"/>
                </a:solidFill>
                <a:latin typeface="Helvetica Neue"/>
              </a:rPr>
              <a:t>regulated mandis whose daily prices we already put on every screen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26280" y="1536192"/>
            <a:ext cx="71323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 i="0">
                <a:solidFill>
                  <a:srgbClr val="82806F"/>
                </a:solidFill>
                <a:latin typeface="Helvetica Neue"/>
              </a:rPr>
              <a:t>WHERE WE SIT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526280" y="1828800"/>
            <a:ext cx="7159752" cy="859536"/>
          </a:xfrm>
          <a:prstGeom prst="roundRect">
            <a:avLst>
              <a:gd name="adj" fmla="val 8000"/>
            </a:avLst>
          </a:prstGeom>
          <a:solidFill>
            <a:srgbClr val="FBF9F3"/>
          </a:solidFill>
          <a:ln w="12700">
            <a:solidFill>
              <a:srgbClr val="E2DF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rIns="146304" tIns="118872" bIns="118872"/>
          <a:lstStyle/>
          <a:p>
            <a:pPr algn="l">
              <a:lnSpc>
                <a:spcPct val="106000"/>
              </a:lnSpc>
            </a:pPr>
            <a:r>
              <a:rPr sz="1350" b="1" i="0">
                <a:solidFill>
                  <a:srgbClr val="14140F"/>
                </a:solidFill>
                <a:latin typeface="Helvetica Neue"/>
              </a:rPr>
              <a:t>eNAM — </a:t>
            </a:r>
            <a:r>
              <a:rPr sz="1300" b="0" i="0">
                <a:solidFill>
                  <a:srgbClr val="4A4A3F"/>
                </a:solidFill>
                <a:latin typeface="Helvetica Neue"/>
              </a:rPr>
              <a:t>e-auctions — but inside the mandi yard the farmer still has to reach.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26280" y="2816352"/>
            <a:ext cx="7159752" cy="859536"/>
          </a:xfrm>
          <a:prstGeom prst="roundRect">
            <a:avLst>
              <a:gd name="adj" fmla="val 8000"/>
            </a:avLst>
          </a:prstGeom>
          <a:solidFill>
            <a:srgbClr val="FBF9F3"/>
          </a:solidFill>
          <a:ln w="12700">
            <a:solidFill>
              <a:srgbClr val="E2DF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rIns="146304" tIns="118872" bIns="118872"/>
          <a:lstStyle/>
          <a:p>
            <a:pPr algn="l">
              <a:lnSpc>
                <a:spcPct val="106000"/>
              </a:lnSpc>
            </a:pPr>
            <a:r>
              <a:rPr sz="1350" b="1" i="0">
                <a:solidFill>
                  <a:srgbClr val="14140F"/>
                </a:solidFill>
                <a:latin typeface="Helvetica Neue"/>
              </a:rPr>
              <a:t>Bijak — </a:t>
            </a:r>
            <a:r>
              <a:rPr sz="1300" b="0" i="0">
                <a:solidFill>
                  <a:srgbClr val="4A4A3F"/>
                </a:solidFill>
                <a:latin typeface="Helvetica Neue"/>
              </a:rPr>
              <a:t>trust &amp; credit for traders — the farmer stays outside the loop.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526280" y="3803904"/>
            <a:ext cx="7159752" cy="859536"/>
          </a:xfrm>
          <a:prstGeom prst="roundRect">
            <a:avLst>
              <a:gd name="adj" fmla="val 8000"/>
            </a:avLst>
          </a:prstGeom>
          <a:solidFill>
            <a:srgbClr val="FBF9F3"/>
          </a:solidFill>
          <a:ln w="12700">
            <a:solidFill>
              <a:srgbClr val="E2DF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rIns="146304" tIns="118872" bIns="118872"/>
          <a:lstStyle/>
          <a:p>
            <a:pPr algn="l">
              <a:lnSpc>
                <a:spcPct val="106000"/>
              </a:lnSpc>
            </a:pPr>
            <a:r>
              <a:rPr sz="1350" b="1" i="0">
                <a:solidFill>
                  <a:srgbClr val="14140F"/>
                </a:solidFill>
                <a:latin typeface="Helvetica Neue"/>
              </a:rPr>
              <a:t>Ninjacart · WayCool — </a:t>
            </a:r>
            <a:r>
              <a:rPr sz="1300" b="0" i="0">
                <a:solidFill>
                  <a:srgbClr val="4A4A3F"/>
                </a:solidFill>
                <a:latin typeface="Helvetica Neue"/>
              </a:rPr>
              <a:t>own the crop: warehouses, custody, spoilage — asset-heavy.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26280" y="4791456"/>
            <a:ext cx="7159752" cy="859536"/>
          </a:xfrm>
          <a:prstGeom prst="roundRect">
            <a:avLst>
              <a:gd name="adj" fmla="val 8000"/>
            </a:avLst>
          </a:prstGeom>
          <a:solidFill>
            <a:srgbClr val="1F2D1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rIns="146304" tIns="118872" bIns="118872"/>
          <a:lstStyle/>
          <a:p>
            <a:pPr algn="l">
              <a:lnSpc>
                <a:spcPct val="106000"/>
              </a:lnSpc>
            </a:pPr>
            <a:r>
              <a:rPr sz="1350" b="1" i="0">
                <a:solidFill>
                  <a:srgbClr val="F4F1EA"/>
                </a:solidFill>
                <a:latin typeface="Helvetica Neue"/>
              </a:rPr>
              <a:t>CropBid — </a:t>
            </a:r>
            <a:r>
              <a:rPr sz="1300" b="0" i="0">
                <a:solidFill>
                  <a:srgbClr val="DFE9D0"/>
                </a:solidFill>
                <a:latin typeface="Helvetica Neue"/>
              </a:rPr>
              <a:t>farmer-first transparency, asset-light, and the whole chain trades on one screen.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02920" y="5943600"/>
            <a:ext cx="111556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0" i="1">
                <a:solidFill>
                  <a:srgbClr val="4A4A3F"/>
                </a:solidFill>
                <a:latin typeface="Georgia"/>
              </a:rPr>
              <a:t>Our wedge: point the price data at the least-informed party — the farmer — and let everyone trade on it.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02920" y="6473952"/>
            <a:ext cx="3657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 i="0">
                <a:solidFill>
                  <a:srgbClr val="82806F"/>
                </a:solidFill>
                <a:latin typeface="Helvetica Neue"/>
              </a:rPr>
              <a:t>CropBid · cropbid.in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430000" y="6473952"/>
            <a:ext cx="3200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950" b="0" i="0">
                <a:solidFill>
                  <a:srgbClr val="82806F"/>
                </a:solidFill>
                <a:latin typeface="Helvetica Neue"/>
              </a:rP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1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84048"/>
            <a:ext cx="11155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i="0">
                <a:solidFill>
                  <a:srgbClr val="6B8E4E"/>
                </a:solidFill>
                <a:latin typeface="Helvetica Neue"/>
              </a:rPr>
              <a:t>ROADMAP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658368"/>
            <a:ext cx="1115568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 i="0">
                <a:solidFill>
                  <a:srgbClr val="6B8E4E"/>
                </a:solidFill>
                <a:latin typeface="Helvetica Neue"/>
              </a:rPr>
              <a:t>Built. </a:t>
            </a:r>
            <a:r>
              <a:rPr sz="3000" b="1" i="0">
                <a:solidFill>
                  <a:srgbClr val="14140F"/>
                </a:solidFill>
                <a:latin typeface="Helvetica Neue"/>
              </a:rPr>
              <a:t>Next: liquidity.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02920" y="1554480"/>
            <a:ext cx="3639312" cy="2651760"/>
          </a:xfrm>
          <a:prstGeom prst="roundRect">
            <a:avLst>
              <a:gd name="adj" fmla="val 8000"/>
            </a:avLst>
          </a:prstGeom>
          <a:solidFill>
            <a:srgbClr val="FBF9F3"/>
          </a:solidFill>
          <a:ln w="12700">
            <a:solidFill>
              <a:srgbClr val="E2DF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46304" rIns="146304" tIns="118872" bIns="118872"/>
          <a:lstStyle/>
          <a:p>
            <a:pPr algn="l">
              <a:lnSpc>
                <a:spcPct val="106000"/>
              </a:lnSpc>
            </a:pPr>
            <a:r>
              <a:rPr sz="1050" b="1" i="0">
                <a:solidFill>
                  <a:srgbClr val="6B8E4E"/>
                </a:solidFill>
                <a:latin typeface="Helvetica Neue"/>
              </a:rPr>
              <a:t>NOW · BUILT</a:t>
            </a:r>
          </a:p>
          <a:p>
            <a:pPr algn="l">
              <a:lnSpc>
                <a:spcPct val="106000"/>
              </a:lnSpc>
            </a:pPr>
            <a:r>
              <a:rPr sz="400" b="0" i="0">
                <a:solidFill>
                  <a:srgbClr val="14140F"/>
                </a:solidFill>
                <a:latin typeface="Helvetica Neue"/>
              </a:rPr>
              <a:t/>
            </a:r>
          </a:p>
          <a:p>
            <a:pPr algn="l">
              <a:lnSpc>
                <a:spcPct val="106000"/>
              </a:lnSpc>
            </a:pPr>
            <a:r>
              <a:rPr sz="1650" b="1" i="0">
                <a:solidFill>
                  <a:srgbClr val="14140F"/>
                </a:solidFill>
                <a:latin typeface="Helvetica Neue"/>
              </a:rPr>
              <a:t>The exchange is live</a:t>
            </a:r>
          </a:p>
          <a:p>
            <a:pPr algn="l">
              <a:lnSpc>
                <a:spcPct val="106000"/>
              </a:lnSpc>
            </a:pPr>
            <a:r>
              <a:rPr sz="500" b="0" i="0">
                <a:solidFill>
                  <a:srgbClr val="14140F"/>
                </a:solidFill>
                <a:latin typeface="Helvetica Neue"/>
              </a:rPr>
              <a:t/>
            </a:r>
          </a:p>
          <a:p>
            <a:pPr algn="l">
              <a:lnSpc>
                <a:spcPct val="106000"/>
              </a:lnSpc>
            </a:pPr>
            <a:r>
              <a:rPr sz="1200" b="0" i="0">
                <a:solidFill>
                  <a:srgbClr val="4A4A3F"/>
                </a:solidFill>
                <a:latin typeface="Helvetica Neue"/>
              </a:rPr>
              <a:t>Storefront, live mandi rates with market-wise detail, open bidding &amp; auctions, escrow with tracked deal flow, direct retail, Sarkari Yojana hub — web + native apps.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315968" y="1554480"/>
            <a:ext cx="3639312" cy="2651760"/>
          </a:xfrm>
          <a:prstGeom prst="roundRect">
            <a:avLst>
              <a:gd name="adj" fmla="val 8000"/>
            </a:avLst>
          </a:prstGeom>
          <a:solidFill>
            <a:srgbClr val="FBF9F3"/>
          </a:solidFill>
          <a:ln w="12700">
            <a:solidFill>
              <a:srgbClr val="E2DF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46304" rIns="146304" tIns="118872" bIns="118872"/>
          <a:lstStyle/>
          <a:p>
            <a:pPr algn="l">
              <a:lnSpc>
                <a:spcPct val="106000"/>
              </a:lnSpc>
            </a:pPr>
            <a:r>
              <a:rPr sz="1050" b="1" i="0">
                <a:solidFill>
                  <a:srgbClr val="C8602B"/>
                </a:solidFill>
                <a:latin typeface="Helvetica Neue"/>
              </a:rPr>
              <a:t>NEXT · 90 DAYS</a:t>
            </a:r>
          </a:p>
          <a:p>
            <a:pPr algn="l">
              <a:lnSpc>
                <a:spcPct val="106000"/>
              </a:lnSpc>
            </a:pPr>
            <a:r>
              <a:rPr sz="400" b="0" i="0">
                <a:solidFill>
                  <a:srgbClr val="14140F"/>
                </a:solidFill>
                <a:latin typeface="Helvetica Neue"/>
              </a:rPr>
              <a:t/>
            </a:r>
          </a:p>
          <a:p>
            <a:pPr algn="l">
              <a:lnSpc>
                <a:spcPct val="106000"/>
              </a:lnSpc>
            </a:pPr>
            <a:r>
              <a:rPr sz="1650" b="1" i="0">
                <a:solidFill>
                  <a:srgbClr val="14140F"/>
                </a:solidFill>
                <a:latin typeface="Helvetica Neue"/>
              </a:rPr>
              <a:t>Liquidity in one place</a:t>
            </a:r>
          </a:p>
          <a:p>
            <a:pPr algn="l">
              <a:lnSpc>
                <a:spcPct val="106000"/>
              </a:lnSpc>
            </a:pPr>
            <a:r>
              <a:rPr sz="500" b="0" i="0">
                <a:solidFill>
                  <a:srgbClr val="14140F"/>
                </a:solidFill>
                <a:latin typeface="Helvetica Neue"/>
              </a:rPr>
              <a:t/>
            </a:r>
          </a:p>
          <a:p>
            <a:pPr algn="l">
              <a:lnSpc>
                <a:spcPct val="106000"/>
              </a:lnSpc>
            </a:pPr>
            <a:r>
              <a:rPr sz="1200" b="0" i="0">
                <a:solidFill>
                  <a:srgbClr val="4A4A3F"/>
                </a:solidFill>
                <a:latin typeface="Helvetica Neue"/>
              </a:rPr>
              <a:t>Own one crop in one district: onboard farmers &amp; local traders, deepen ratings, and pilot real transport partners &amp; doorstep delivery — manual first, no trucks bought.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129016" y="1554480"/>
            <a:ext cx="3639312" cy="2651760"/>
          </a:xfrm>
          <a:prstGeom prst="roundRect">
            <a:avLst>
              <a:gd name="adj" fmla="val 8000"/>
            </a:avLst>
          </a:prstGeom>
          <a:solidFill>
            <a:srgbClr val="FBF9F3"/>
          </a:solidFill>
          <a:ln w="12700">
            <a:solidFill>
              <a:srgbClr val="E2DF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46304" rIns="146304" tIns="118872" bIns="118872"/>
          <a:lstStyle/>
          <a:p>
            <a:pPr algn="l">
              <a:lnSpc>
                <a:spcPct val="106000"/>
              </a:lnSpc>
            </a:pPr>
            <a:r>
              <a:rPr sz="1050" b="1" i="0">
                <a:solidFill>
                  <a:srgbClr val="82806F"/>
                </a:solidFill>
                <a:latin typeface="Helvetica Neue"/>
              </a:rPr>
              <a:t>LATER</a:t>
            </a:r>
          </a:p>
          <a:p>
            <a:pPr algn="l">
              <a:lnSpc>
                <a:spcPct val="106000"/>
              </a:lnSpc>
            </a:pPr>
            <a:r>
              <a:rPr sz="400" b="0" i="0">
                <a:solidFill>
                  <a:srgbClr val="14140F"/>
                </a:solidFill>
                <a:latin typeface="Helvetica Neue"/>
              </a:rPr>
              <a:t/>
            </a:r>
          </a:p>
          <a:p>
            <a:pPr algn="l">
              <a:lnSpc>
                <a:spcPct val="106000"/>
              </a:lnSpc>
            </a:pPr>
            <a:r>
              <a:rPr sz="1650" b="1" i="0">
                <a:solidFill>
                  <a:srgbClr val="14140F"/>
                </a:solidFill>
                <a:latin typeface="Helvetica Neue"/>
              </a:rPr>
              <a:t>Price intelligence &amp; credit</a:t>
            </a:r>
          </a:p>
          <a:p>
            <a:pPr algn="l">
              <a:lnSpc>
                <a:spcPct val="106000"/>
              </a:lnSpc>
            </a:pPr>
            <a:r>
              <a:rPr sz="500" b="0" i="0">
                <a:solidFill>
                  <a:srgbClr val="14140F"/>
                </a:solidFill>
                <a:latin typeface="Helvetica Neue"/>
              </a:rPr>
              <a:t/>
            </a:r>
          </a:p>
          <a:p>
            <a:pPr algn="l">
              <a:lnSpc>
                <a:spcPct val="106000"/>
              </a:lnSpc>
            </a:pPr>
            <a:r>
              <a:rPr sz="1200" b="0" i="0">
                <a:solidFill>
                  <a:srgbClr val="4A4A3F"/>
                </a:solidFill>
                <a:latin typeface="Helvetica Neue"/>
              </a:rPr>
              <a:t>Price history and trend signals from daily snapshots; FPO tools; financing with NBFC partners on top of trade data.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2920" y="4526280"/>
            <a:ext cx="11183112" cy="731520"/>
          </a:xfrm>
          <a:prstGeom prst="roundRect">
            <a:avLst>
              <a:gd name="adj" fmla="val 8000"/>
            </a:avLst>
          </a:prstGeom>
          <a:solidFill>
            <a:srgbClr val="2A3B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rIns="146304" tIns="118872" bIns="118872"/>
          <a:lstStyle/>
          <a:p>
            <a:pPr algn="ctr">
              <a:lnSpc>
                <a:spcPct val="106000"/>
              </a:lnSpc>
            </a:pPr>
            <a:r>
              <a:rPr sz="1400" b="0" i="0">
                <a:solidFill>
                  <a:srgbClr val="DFE9D0"/>
                </a:solidFill>
                <a:latin typeface="Helvetica Neue"/>
              </a:rPr>
              <a:t>See it live:  </a:t>
            </a:r>
            <a:r>
              <a:rPr sz="1500" b="1" i="0">
                <a:solidFill>
                  <a:srgbClr val="F4F1EA"/>
                </a:solidFill>
                <a:latin typeface="Helvetica Neue"/>
              </a:rPr>
              <a:t>cropbid.in</a:t>
            </a:r>
            <a:r>
              <a:rPr sz="1300" b="0" i="0">
                <a:solidFill>
                  <a:srgbClr val="DFE9D0"/>
                </a:solidFill>
                <a:latin typeface="Helvetica Neue"/>
              </a:rPr>
              <a:t>   ·   storefront, live rates and Yojana hub are open to everyone — no login needed.</a:t>
            </a:r>
          </a:p>
        </p:txBody>
      </p:sp>
      <p:pic>
        <p:nvPicPr>
          <p:cNvPr id="8" name="Picture 7" descr="india2047-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6928" y="5596128"/>
            <a:ext cx="685800" cy="68580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1417320" y="5715000"/>
            <a:ext cx="54864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900" b="1" i="0">
                <a:solidFill>
                  <a:srgbClr val="82806F"/>
                </a:solidFill>
                <a:latin typeface="Helvetica Neue"/>
              </a:rPr>
              <a:t>SUPPORTED BY</a:t>
            </a:r>
          </a:p>
          <a:p>
            <a:pPr algn="l">
              <a:lnSpc>
                <a:spcPct val="112000"/>
              </a:lnSpc>
            </a:pPr>
            <a:r>
              <a:rPr sz="1500" b="1" i="0">
                <a:solidFill>
                  <a:srgbClr val="14140F"/>
                </a:solidFill>
                <a:latin typeface="Helvetica Neue"/>
              </a:rPr>
              <a:t>India 2047 Ventures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0" y="5852160"/>
            <a:ext cx="43891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150" b="0" i="0">
                <a:solidFill>
                  <a:srgbClr val="82806F"/>
                </a:solidFill>
                <a:latin typeface="Helvetica Neue"/>
              </a:rPr>
              <a:t>‹ your name · email · phone ›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