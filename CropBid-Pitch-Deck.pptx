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" y="886968"/>
            <a:ext cx="146304" cy="146304"/>
          </a:xfrm>
          <a:prstGeom prst="ellipse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" y="7498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 u="none">
                <a:solidFill>
                  <a:srgbClr val="F2EFE4"/>
                </a:solidFill>
                <a:latin typeface="Avenir Next"/>
              </a:rPr>
              <a:t>CropBid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600200"/>
            <a:ext cx="9601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6000" b="1" i="0" u="none">
                <a:solidFill>
                  <a:srgbClr val="F2EFE4"/>
                </a:solidFill>
                <a:latin typeface="Avenir Next"/>
              </a:rPr>
              <a:t>The crop exchange</a:t>
            </a:r>
          </a:p>
          <a:p>
            <a:pPr algn="l">
              <a:lnSpc>
                <a:spcPct val="102000"/>
              </a:lnSpc>
            </a:pPr>
            <a:r>
              <a:rPr sz="6000" b="1" i="0" u="none">
                <a:solidFill>
                  <a:srgbClr val="F2EFE4"/>
                </a:solidFill>
                <a:latin typeface="Avenir Next"/>
              </a:rPr>
              <a:t>for </a:t>
            </a:r>
            <a:r>
              <a:rPr sz="6000" b="1" i="0" u="none">
                <a:solidFill>
                  <a:srgbClr val="9BC97A"/>
                </a:solidFill>
                <a:latin typeface="Avenir Next"/>
              </a:rPr>
              <a:t>everyone</a:t>
            </a:r>
            <a:r>
              <a:rPr sz="6000" b="1" i="0" u="none">
                <a:solidFill>
                  <a:srgbClr val="F2EFE4"/>
                </a:solidFill>
                <a:latin typeface="Avenir Nex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611880"/>
            <a:ext cx="7589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 u="none">
                <a:solidFill>
                  <a:srgbClr val="B9BFA6"/>
                </a:solidFill>
                <a:latin typeface="Avenir Next"/>
              </a:rPr>
              <a:t>Farmers, traders, retailers and consumers — trading around </a:t>
            </a:r>
            <a:r>
              <a:rPr sz="1700" b="1" i="0" u="none">
                <a:solidFill>
                  <a:srgbClr val="F2EFE4"/>
                </a:solidFill>
                <a:latin typeface="Avenir Next"/>
              </a:rPr>
              <a:t>live government mandi prices</a:t>
            </a:r>
            <a:r>
              <a:rPr sz="1700" b="0" i="0" u="none">
                <a:solidFill>
                  <a:srgbClr val="B9BFA6"/>
                </a:solidFill>
                <a:latin typeface="Avenir Next"/>
              </a:rPr>
              <a:t>, with money held safe in </a:t>
            </a:r>
            <a:r>
              <a:rPr sz="1700" b="1" i="0" u="none">
                <a:solidFill>
                  <a:srgbClr val="F2EFE4"/>
                </a:solidFill>
                <a:latin typeface="Avenir Next"/>
              </a:rPr>
              <a:t>escrow</a:t>
            </a:r>
            <a:r>
              <a:rPr sz="1700" b="0" i="0" u="none">
                <a:solidFill>
                  <a:srgbClr val="B9BFA6"/>
                </a:solidFill>
                <a:latin typeface="Avenir Next"/>
              </a:rPr>
              <a:t> until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892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9BC97A"/>
                </a:solidFill>
                <a:latin typeface="Avenir Next"/>
              </a:rPr>
              <a:t>cropbid.in</a:t>
            </a:r>
            <a:r>
              <a:rPr sz="1350" b="0" i="0" u="none">
                <a:solidFill>
                  <a:srgbClr val="B9BFA6"/>
                </a:solidFill>
                <a:latin typeface="Avenir Next"/>
              </a:rPr>
              <a:t>   ·   </a:t>
            </a:r>
            <a:r>
              <a:rPr sz="1350" b="1" i="0" u="none">
                <a:solidFill>
                  <a:srgbClr val="9BC97A"/>
                </a:solidFill>
                <a:latin typeface="Avenir Next"/>
              </a:rPr>
              <a:t>Android &amp; iOS</a:t>
            </a:r>
            <a:r>
              <a:rPr sz="1350" b="0" i="0" u="none">
                <a:solidFill>
                  <a:srgbClr val="B9BFA6"/>
                </a:solidFill>
                <a:latin typeface="Avenir Next"/>
              </a:rPr>
              <a:t>   ·   </a:t>
            </a:r>
            <a:r>
              <a:rPr sz="1350" b="1" i="0" u="none">
                <a:solidFill>
                  <a:srgbClr val="9BC97A"/>
                </a:solidFill>
                <a:latin typeface="Avenir Next"/>
              </a:rPr>
              <a:t>हिंदी · मराठी ·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309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u="none" spc="150">
                <a:solidFill>
                  <a:srgbClr val="B9BFA6"/>
                </a:solidFill>
                <a:latin typeface="Avenir Next"/>
              </a:rPr>
              <a:t>SUPPORTED BY   </a:t>
            </a:r>
            <a:r>
              <a:rPr sz="1100" b="1" i="0" u="none">
                <a:solidFill>
                  <a:srgbClr val="F2EFE4"/>
                </a:solidFill>
                <a:latin typeface="Avenir Next"/>
              </a:rPr>
              <a:t>India 2047 Ventures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3093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 u="none">
                <a:solidFill>
                  <a:srgbClr val="B9BFA6"/>
                </a:solidFill>
                <a:latin typeface="Avenir Next"/>
              </a:rPr>
              <a:t>‹ your name · contact 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Selling a harvest is still a </a:t>
            </a:r>
            <a:r>
              <a:rPr sz="3450" b="1" i="0" u="none">
                <a:solidFill>
                  <a:srgbClr val="3F6D2A"/>
                </a:solidFill>
                <a:latin typeface="Avenir Next"/>
              </a:rPr>
              <a:t>blind trade</a:t>
            </a:r>
            <a:r>
              <a:rPr sz="3450" b="1" i="0" u="none">
                <a:solidFill>
                  <a:srgbClr val="181B10"/>
                </a:solidFill>
                <a:latin typeface="Avenir Nex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920240"/>
            <a:ext cx="105914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 u="none">
                <a:solidFill>
                  <a:srgbClr val="181B10"/>
                </a:solidFill>
                <a:latin typeface="Avenir Next"/>
              </a:rPr>
              <a:t>In India, </a:t>
            </a:r>
            <a:r>
              <a:rPr sz="2500" b="1" i="0" u="sng">
                <a:solidFill>
                  <a:srgbClr val="181B10"/>
                </a:solidFill>
                <a:latin typeface="Avenir Next"/>
              </a:rPr>
              <a:t>100M+</a:t>
            </a:r>
            <a:r>
              <a:rPr sz="2000" b="0" i="0" u="none">
                <a:solidFill>
                  <a:srgbClr val="181B10"/>
                </a:solidFill>
                <a:latin typeface="Avenir Next"/>
              </a:rPr>
              <a:t> farmer families sell without seeing the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697480"/>
            <a:ext cx="2926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 u="none">
                <a:solidFill>
                  <a:srgbClr val="C2591F"/>
                </a:solidFill>
                <a:latin typeface="Avenir Next"/>
              </a:rPr>
              <a:t>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22860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2000" b="0" i="0" u="none">
                <a:solidFill>
                  <a:srgbClr val="181B10"/>
                </a:solidFill>
                <a:latin typeface="Avenir Next"/>
              </a:rPr>
              <a:t>the farmer keeps only</a:t>
            </a:r>
          </a:p>
        </p:txBody>
      </p:sp>
      <p:sp>
        <p:nvSpPr>
          <p:cNvPr id="7" name="Oval 6"/>
          <p:cNvSpPr/>
          <p:nvPr/>
        </p:nvSpPr>
        <p:spPr>
          <a:xfrm rot="21480000">
            <a:off x="4041648" y="2697480"/>
            <a:ext cx="1298448" cy="502920"/>
          </a:xfrm>
          <a:prstGeom prst="ellipse">
            <a:avLst/>
          </a:prstGeom>
          <a:noFill/>
          <a:ln w="31750">
            <a:solidFill>
              <a:srgbClr val="C25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100" b="1" i="0" u="none">
                <a:solidFill>
                  <a:srgbClr val="C2591F"/>
                </a:solidFill>
                <a:latin typeface="Avenir Next"/>
              </a:rPr>
              <a:t>~33%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8112" y="2697480"/>
            <a:ext cx="512064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0" i="0" u="none">
                <a:solidFill>
                  <a:srgbClr val="181B10"/>
                </a:solidFill>
                <a:latin typeface="Avenir Next"/>
              </a:rPr>
              <a:t>of what the consumer pays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456432"/>
            <a:ext cx="2926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 u="none">
                <a:solidFill>
                  <a:srgbClr val="C2591F"/>
                </a:solidFill>
                <a:latin typeface="Avenir Next"/>
              </a:rPr>
              <a:t>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456432"/>
            <a:ext cx="82296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 u="sng">
                <a:solidFill>
                  <a:srgbClr val="181B10"/>
                </a:solidFill>
                <a:latin typeface="Avenir Next"/>
              </a:rPr>
              <a:t>₹1.5 lakh crore</a:t>
            </a:r>
            <a:r>
              <a:rPr sz="2000" b="0" i="0" u="none">
                <a:solidFill>
                  <a:srgbClr val="181B10"/>
                </a:solidFill>
                <a:latin typeface="Avenir Next"/>
              </a:rPr>
              <a:t> of produce is lost after harvest, every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52628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1" u="none">
                <a:solidFill>
                  <a:srgbClr val="4A4D3E"/>
                </a:solidFill>
                <a:latin typeface="Georgia"/>
              </a:rPr>
              <a:t>No shared price anchor, no payment protection — every deal starts from a guess, and the least-informed party loses.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 u="none">
                <a:solidFill>
                  <a:srgbClr val="4A4D3E"/>
                </a:solidFill>
                <a:latin typeface="Georgia"/>
              </a:rPr>
              <a:t>RBI Bulletin 2022 · NABCONS / MoFPI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One exchange, </a:t>
            </a:r>
            <a:r>
              <a:rPr sz="3450" b="1" i="0" u="none">
                <a:solidFill>
                  <a:srgbClr val="3F6D2A"/>
                </a:solidFill>
                <a:latin typeface="Avenir Next"/>
              </a:rPr>
              <a:t>everything a deal needs</a:t>
            </a:r>
            <a:r>
              <a:rPr sz="3450" b="1" i="0" u="none">
                <a:solidFill>
                  <a:srgbClr val="181B10"/>
                </a:solidFill>
                <a:latin typeface="Avenir Next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100" y="1920240"/>
            <a:ext cx="5193792" cy="1572768"/>
          </a:xfrm>
          <a:prstGeom prst="roundRect">
            <a:avLst>
              <a:gd name="adj" fmla="val 9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 bIns="146304"/>
          <a:lstStyle/>
          <a:p>
            <a:pPr algn="ctr">
              <a:spcAft>
                <a:spcPts val="500"/>
              </a:spcAft>
            </a:pPr>
            <a:r>
              <a:rPr sz="1500" b="1" i="0" u="none">
                <a:solidFill>
                  <a:srgbClr val="181B10"/>
                </a:solidFill>
                <a:latin typeface="Avenir Next"/>
              </a:rPr>
              <a:t>Live govt mandi anchor · 4,600+ mandis</a:t>
            </a:r>
          </a:p>
          <a:p>
            <a:pPr algn="l">
              <a:lnSpc>
                <a:spcPct val="120000"/>
              </a:lnSpc>
            </a:pPr>
            <a:r>
              <a:rPr sz="1200" b="0" i="0" u="none">
                <a:solidFill>
                  <a:srgbClr val="4A4D3E"/>
                </a:solidFill>
                <a:latin typeface="Avenir Next"/>
              </a:rPr>
              <a:t>Real wholesale prices (Agmarknet) on every listing — every state, refreshed daily. Everyone negotiates around the same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5060" y="1920240"/>
            <a:ext cx="5193792" cy="1572768"/>
          </a:xfrm>
          <a:prstGeom prst="roundRect">
            <a:avLst>
              <a:gd name="adj" fmla="val 9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 bIns="146304"/>
          <a:lstStyle/>
          <a:p>
            <a:pPr algn="ctr">
              <a:spcAft>
                <a:spcPts val="500"/>
              </a:spcAft>
            </a:pPr>
            <a:r>
              <a:rPr sz="1500" b="1" i="0" u="none">
                <a:solidFill>
                  <a:srgbClr val="181B10"/>
                </a:solidFill>
                <a:latin typeface="Avenir Next"/>
              </a:rPr>
              <a:t>Open bidding + AI-agent negotiation</a:t>
            </a:r>
          </a:p>
          <a:p>
            <a:pPr algn="l">
              <a:lnSpc>
                <a:spcPct val="120000"/>
              </a:lnSpc>
            </a:pPr>
            <a:r>
              <a:rPr sz="1200" b="0" i="0" u="none">
                <a:solidFill>
                  <a:srgbClr val="4A4D3E"/>
                </a:solidFill>
                <a:latin typeface="Avenir Next"/>
              </a:rPr>
              <a:t>Buyers bid in transparent rounds — or each side's AI agent negotiates for them, round by round, within limits they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3694176"/>
            <a:ext cx="5193792" cy="1572768"/>
          </a:xfrm>
          <a:prstGeom prst="roundRect">
            <a:avLst>
              <a:gd name="adj" fmla="val 9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 bIns="146304"/>
          <a:lstStyle/>
          <a:p>
            <a:pPr algn="ctr">
              <a:spcAft>
                <a:spcPts val="500"/>
              </a:spcAft>
            </a:pPr>
            <a:r>
              <a:rPr sz="1500" b="1" i="0" u="none">
                <a:solidFill>
                  <a:srgbClr val="181B10"/>
                </a:solidFill>
                <a:latin typeface="Avenir Next"/>
              </a:rPr>
              <a:t>Escrow payments</a:t>
            </a:r>
          </a:p>
          <a:p>
            <a:pPr algn="l">
              <a:lnSpc>
                <a:spcPct val="120000"/>
              </a:lnSpc>
            </a:pPr>
            <a:r>
              <a:rPr sz="1200" b="0" i="0" u="none">
                <a:solidFill>
                  <a:srgbClr val="4A4D3E"/>
                </a:solidFill>
                <a:latin typeface="Avenir Next"/>
              </a:rPr>
              <a:t>Razorpay holds the money; it releases only on confirmed delivery. Sellers never ship and chase payments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3694176"/>
            <a:ext cx="5193792" cy="1572768"/>
          </a:xfrm>
          <a:prstGeom prst="roundRect">
            <a:avLst>
              <a:gd name="adj" fmla="val 9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82880" bIns="146304"/>
          <a:lstStyle/>
          <a:p>
            <a:pPr algn="ctr">
              <a:spcAft>
                <a:spcPts val="500"/>
              </a:spcAft>
            </a:pPr>
            <a:r>
              <a:rPr sz="1500" b="1" i="0" u="none">
                <a:solidFill>
                  <a:srgbClr val="181B10"/>
                </a:solidFill>
                <a:latin typeface="Avenir Next"/>
              </a:rPr>
              <a:t>Direct retail channel</a:t>
            </a:r>
          </a:p>
          <a:p>
            <a:pPr algn="l">
              <a:lnSpc>
                <a:spcPct val="120000"/>
              </a:lnSpc>
            </a:pPr>
            <a:r>
              <a:rPr sz="1200" b="0" i="0" u="none">
                <a:solidFill>
                  <a:srgbClr val="4A4D3E"/>
                </a:solidFill>
                <a:latin typeface="Avenir Next"/>
              </a:rPr>
              <a:t>Farmers flip a listing to retail at a fixed price; consumers buy any quantity instantly — farm to home, no bidding.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u="none">
                <a:solidFill>
                  <a:srgbClr val="4A4D3E"/>
                </a:solidFill>
                <a:latin typeface="Avenir Next"/>
              </a:rPr>
              <a:t>Live in production at cropbid.in — web storefront + native apps in Hindi, Marathi &amp; English.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We move the </a:t>
            </a:r>
            <a:r>
              <a:rPr sz="3450" b="1" i="0" u="none">
                <a:solidFill>
                  <a:srgbClr val="3F6D2A"/>
                </a:solidFill>
                <a:latin typeface="Avenir Next"/>
              </a:rPr>
              <a:t>money</a:t>
            </a:r>
            <a:r>
              <a:rPr sz="3450" b="1" i="0" u="none">
                <a:solidFill>
                  <a:srgbClr val="181B10"/>
                </a:solidFill>
                <a:latin typeface="Avenir Next"/>
              </a:rPr>
              <a:t>, never the crop.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100" y="1874519"/>
            <a:ext cx="10591495" cy="713232"/>
          </a:xfrm>
          <a:prstGeom prst="roundRect">
            <a:avLst>
              <a:gd name="adj" fmla="val 16000"/>
            </a:avLst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874519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u="none" spc="140">
                <a:solidFill>
                  <a:srgbClr val="9BC97A"/>
                </a:solidFill>
                <a:latin typeface="Avenir Next"/>
              </a:rPr>
              <a:t>LIVE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8860" y="1874519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 u="none">
                <a:solidFill>
                  <a:srgbClr val="FFFFFF"/>
                </a:solidFill>
                <a:latin typeface="Avenir Next"/>
              </a:rPr>
              <a:t>2% settlement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4900" y="1874519"/>
            <a:ext cx="6172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u="none">
                <a:solidFill>
                  <a:srgbClr val="E4ECD9"/>
                </a:solidFill>
                <a:latin typeface="Avenir Next"/>
              </a:rPr>
              <a:t>On every escrow release — the core take rate on all trade cleared through the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734055"/>
            <a:ext cx="10591495" cy="713232"/>
          </a:xfrm>
          <a:prstGeom prst="roundRect">
            <a:avLst>
              <a:gd name="adj" fmla="val 16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734055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u="none" spc="140">
                <a:solidFill>
                  <a:srgbClr val="4A4D3E"/>
                </a:solidFill>
                <a:latin typeface="Avenir Next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8860" y="2734055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 u="none">
                <a:solidFill>
                  <a:srgbClr val="181B10"/>
                </a:solidFill>
                <a:latin typeface="Avenir Next"/>
              </a:rPr>
              <a:t>Logistics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2734055"/>
            <a:ext cx="6172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Commission on shipments once the transport-partner network goes live in the pilot district.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" y="3593591"/>
            <a:ext cx="10591495" cy="713232"/>
          </a:xfrm>
          <a:prstGeom prst="roundRect">
            <a:avLst>
              <a:gd name="adj" fmla="val 16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" y="3593591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u="none" spc="140">
                <a:solidFill>
                  <a:srgbClr val="4A4D3E"/>
                </a:solidFill>
                <a:latin typeface="Avenir Next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8860" y="3593591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 u="none">
                <a:solidFill>
                  <a:srgbClr val="181B10"/>
                </a:solidFill>
                <a:latin typeface="Avenir Next"/>
              </a:rPr>
              <a:t>Premium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900" y="3593591"/>
            <a:ext cx="6172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Sourcing dashboards, placement and analytics for buyers, processors and FPOs.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" y="4453127"/>
            <a:ext cx="10591495" cy="713232"/>
          </a:xfrm>
          <a:prstGeom prst="roundRect">
            <a:avLst>
              <a:gd name="adj" fmla="val 16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" y="4453127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 u="none" spc="140">
                <a:solidFill>
                  <a:srgbClr val="4A4D3E"/>
                </a:solidFill>
                <a:latin typeface="Avenir Next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8860" y="4453127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 u="none">
                <a:solidFill>
                  <a:srgbClr val="181B10"/>
                </a:solidFill>
                <a:latin typeface="Avenir Next"/>
              </a:rPr>
              <a:t>Financing 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4900" y="4453127"/>
            <a:ext cx="6172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Working-capital credit with NBFC partners — underwritten by on-platform trade and trust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5486400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u="none">
                <a:solidFill>
                  <a:srgbClr val="3F6D2A"/>
                </a:solidFill>
                <a:latin typeface="Avenir Next"/>
              </a:rPr>
              <a:t>Why it compounds: </a:t>
            </a:r>
            <a:r>
              <a:rPr sz="1400" b="0" i="0" u="none">
                <a:solidFill>
                  <a:srgbClr val="181B10"/>
                </a:solidFill>
                <a:latin typeface="Avenir Next"/>
              </a:rPr>
              <a:t>every hop in the chain — farmer → trader → wholesaler → retailer — can clear on-platform, and each hop is a fee event. No warehouses, no inventory, no spoilage on our books.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A huge market, </a:t>
            </a:r>
            <a:r>
              <a:rPr sz="3450" b="1" i="0" u="none">
                <a:solidFill>
                  <a:srgbClr val="3F6D2A"/>
                </a:solidFill>
                <a:latin typeface="Avenir Next"/>
              </a:rPr>
              <a:t>an empty seat</a:t>
            </a:r>
            <a:r>
              <a:rPr sz="3450" b="1" i="0" u="none">
                <a:solidFill>
                  <a:srgbClr val="181B10"/>
                </a:solidFill>
                <a:latin typeface="Avenir Next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" y="2057400"/>
            <a:ext cx="3346704" cy="50292"/>
          </a:xfrm>
          <a:prstGeom prst="rect">
            <a:avLst/>
          </a:prstGeom>
          <a:solidFill>
            <a:srgbClr val="C25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2286000"/>
            <a:ext cx="33467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900" b="1" i="0" u="none">
                <a:solidFill>
                  <a:srgbClr val="C2591F"/>
                </a:solidFill>
                <a:latin typeface="Avenir Next"/>
              </a:rPr>
              <a:t>$28B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154680"/>
            <a:ext cx="3072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u="none">
                <a:solidFill>
                  <a:srgbClr val="4A4D3E"/>
                </a:solidFill>
                <a:latin typeface="Avenir Next"/>
              </a:rPr>
              <a:t>India agritech by 2030, growing ~25% CAGR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1124" y="2057400"/>
            <a:ext cx="3346704" cy="50292"/>
          </a:xfrm>
          <a:prstGeom prst="rect">
            <a:avLst/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1124" y="2286000"/>
            <a:ext cx="33467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900" b="1" i="0" u="none">
                <a:solidFill>
                  <a:srgbClr val="181B10"/>
                </a:solidFill>
                <a:latin typeface="Avenir Next"/>
              </a:rPr>
              <a:t>100M+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1124" y="3154680"/>
            <a:ext cx="3072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u="none">
                <a:solidFill>
                  <a:srgbClr val="4A4D3E"/>
                </a:solidFill>
                <a:latin typeface="Avenir Next"/>
              </a:rPr>
              <a:t>farmer families — the largest underserved seller base in the country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2148" y="2057400"/>
            <a:ext cx="3346704" cy="50292"/>
          </a:xfrm>
          <a:prstGeom prst="rect">
            <a:avLst/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2148" y="2286000"/>
            <a:ext cx="33467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900" b="1" i="0" u="none">
                <a:solidFill>
                  <a:srgbClr val="181B10"/>
                </a:solidFill>
                <a:latin typeface="Avenir Next"/>
              </a:rPr>
              <a:t>4,600+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2148" y="3154680"/>
            <a:ext cx="3072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u="none">
                <a:solidFill>
                  <a:srgbClr val="4A4D3E"/>
                </a:solidFill>
                <a:latin typeface="Avenir Next"/>
              </a:rPr>
              <a:t>regulated mandis whose daily prices we already put on every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48056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 u="none">
                <a:solidFill>
                  <a:srgbClr val="181B10"/>
                </a:solidFill>
                <a:latin typeface="Avenir Next"/>
              </a:rPr>
              <a:t>Everyone in the chain is a customer — sellers and buyers of every size, from FPOs and processors to the household buying vegetables. The exchange earns on each of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 u="none">
                <a:solidFill>
                  <a:srgbClr val="4A4D3E"/>
                </a:solidFill>
                <a:latin typeface="Georgia"/>
              </a:rPr>
              <a:t>Ernst &amp; Young, Indian agritech market sizing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Everyone solved </a:t>
            </a:r>
            <a:r>
              <a:rPr sz="3450" b="1" i="0" u="none">
                <a:solidFill>
                  <a:srgbClr val="3F6D2A"/>
                </a:solidFill>
                <a:latin typeface="Avenir Next"/>
              </a:rPr>
              <a:t>one seat at the table</a:t>
            </a:r>
            <a:r>
              <a:rPr sz="3450" b="1" i="0" u="none">
                <a:solidFill>
                  <a:srgbClr val="181B10"/>
                </a:solidFill>
                <a:latin typeface="Avenir Next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100" y="1920240"/>
            <a:ext cx="10591495" cy="749808"/>
          </a:xfrm>
          <a:prstGeom prst="roundRect">
            <a:avLst>
              <a:gd name="adj" fmla="val 15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6132" y="1920240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181B10"/>
                </a:solidFill>
                <a:latin typeface="Avenir Next"/>
              </a:rPr>
              <a:t>eNAM  (govt)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3300" y="1920240"/>
            <a:ext cx="7543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u="none">
                <a:solidFill>
                  <a:srgbClr val="4A4D3E"/>
                </a:solidFill>
                <a:latin typeface="Avenir Next"/>
              </a:rPr>
              <a:t>E-auctions — but inside the mandi yard the farmer still has to physically reach.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2816352"/>
            <a:ext cx="10591495" cy="749808"/>
          </a:xfrm>
          <a:prstGeom prst="roundRect">
            <a:avLst>
              <a:gd name="adj" fmla="val 15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6132" y="2816352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181B10"/>
                </a:solidFill>
                <a:latin typeface="Avenir Next"/>
              </a:rPr>
              <a:t>Bijak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300" y="2816352"/>
            <a:ext cx="7543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u="none">
                <a:solidFill>
                  <a:srgbClr val="4A4D3E"/>
                </a:solidFill>
                <a:latin typeface="Avenir Next"/>
              </a:rPr>
              <a:t>Trust &amp; credit for traders trading with traders — the farmer stays outside the loop.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" y="3712464"/>
            <a:ext cx="10591495" cy="749808"/>
          </a:xfrm>
          <a:prstGeom prst="roundRect">
            <a:avLst>
              <a:gd name="adj" fmla="val 15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6132" y="3712464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181B10"/>
                </a:solidFill>
                <a:latin typeface="Avenir Next"/>
              </a:rPr>
              <a:t>Ninjacart · WayCool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3712464"/>
            <a:ext cx="7543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u="none">
                <a:solidFill>
                  <a:srgbClr val="4A4D3E"/>
                </a:solidFill>
                <a:latin typeface="Avenir Next"/>
              </a:rPr>
              <a:t>Own the crop: warehouses, custody, spoilage — asset-heavy, margin lives in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" y="4608576"/>
            <a:ext cx="10591495" cy="749808"/>
          </a:xfrm>
          <a:prstGeom prst="roundRect">
            <a:avLst>
              <a:gd name="adj" fmla="val 15000"/>
            </a:avLst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132" y="4608576"/>
            <a:ext cx="22860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Avenir Next"/>
              </a:rPr>
              <a:t>CropBid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300" y="4608576"/>
            <a:ext cx="7543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u="none">
                <a:solidFill>
                  <a:srgbClr val="E4ECD9"/>
                </a:solidFill>
                <a:latin typeface="Avenir Next"/>
              </a:rPr>
              <a:t>Farmer-first transparency, asset-light, and the whole chain trades on one screen.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Our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783080"/>
            <a:ext cx="3749039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250" b="1" i="0" u="none">
                <a:solidFill>
                  <a:srgbClr val="181B10"/>
                </a:solidFill>
                <a:latin typeface="Avenir Next"/>
              </a:rPr>
              <a:t>Point the price data at the</a:t>
            </a:r>
          </a:p>
        </p:txBody>
      </p:sp>
      <p:sp>
        <p:nvSpPr>
          <p:cNvPr id="5" name="Oval 4"/>
          <p:cNvSpPr/>
          <p:nvPr/>
        </p:nvSpPr>
        <p:spPr>
          <a:xfrm rot="21480000">
            <a:off x="4663440" y="1764792"/>
            <a:ext cx="2788920" cy="603504"/>
          </a:xfrm>
          <a:prstGeom prst="ellipse">
            <a:avLst/>
          </a:prstGeom>
          <a:noFill/>
          <a:ln w="31750">
            <a:solidFill>
              <a:srgbClr val="C25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 u="none">
                <a:solidFill>
                  <a:srgbClr val="C2591F"/>
                </a:solidFill>
                <a:latin typeface="Avenir Next"/>
              </a:rPr>
              <a:t>least-informed party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487168"/>
            <a:ext cx="8229600" cy="5029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50" b="1" i="0" u="none">
                <a:solidFill>
                  <a:srgbClr val="181B10"/>
                </a:solidFill>
                <a:latin typeface="Avenir Next"/>
              </a:rPr>
              <a:t>— and let everyone trade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" y="3429000"/>
            <a:ext cx="41148" cy="1097280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3429000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81B10"/>
                </a:solidFill>
                <a:latin typeface="Avenir Next"/>
              </a:rPr>
              <a:t>The anchor is public and ours to surface</a:t>
            </a:r>
          </a:p>
          <a:p>
            <a:pPr algn="l">
              <a:lnSpc>
                <a:spcPct val="12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4,600+ mandi prices on every listing, in the farmer's language — the information advantage middlemen rely on, gone.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2220" y="3429000"/>
            <a:ext cx="41148" cy="1097280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0820" y="3429000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81B10"/>
                </a:solidFill>
                <a:latin typeface="Avenir Next"/>
              </a:rPr>
              <a:t>Asset-light by design</a:t>
            </a:r>
          </a:p>
          <a:p>
            <a:pPr algn="l">
              <a:lnSpc>
                <a:spcPct val="12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We clear payments, we don't touch produce — no warehouses or spoilage, so unit economics survive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4892040"/>
            <a:ext cx="41148" cy="1097280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4892040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81B10"/>
                </a:solidFill>
                <a:latin typeface="Avenir Next"/>
              </a:rPr>
              <a:t>Whole chain on one screen</a:t>
            </a:r>
          </a:p>
          <a:p>
            <a:pPr algn="l">
              <a:lnSpc>
                <a:spcPct val="12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Farmer, trader, wholesaler, retailer and consumer on the same exchange — every hop is our fee event, not a competitor's.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2220" y="4892040"/>
            <a:ext cx="41148" cy="1097280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0820" y="4892040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 u="none">
                <a:solidFill>
                  <a:srgbClr val="181B10"/>
                </a:solidFill>
                <a:latin typeface="Avenir Next"/>
              </a:rPr>
              <a:t>Trust that compounds</a:t>
            </a:r>
          </a:p>
          <a:p>
            <a:pPr algn="l">
              <a:lnSpc>
                <a:spcPct val="12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Escrow + trust scores + AI-agent negotiation history — every completed deal makes the next one easier to win 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GO TO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One crop. One district. </a:t>
            </a:r>
            <a:r>
              <a:rPr sz="3450" b="1" i="0" u="none">
                <a:solidFill>
                  <a:srgbClr val="3F6D2A"/>
                </a:solidFill>
                <a:latin typeface="Avenir Next"/>
              </a:rPr>
              <a:t>Then repeat.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00100" y="1965960"/>
            <a:ext cx="2505456" cy="41148"/>
          </a:xfrm>
          <a:prstGeom prst="rect">
            <a:avLst/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100" y="2148840"/>
            <a:ext cx="236829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u="none" spc="180">
                <a:solidFill>
                  <a:srgbClr val="3F6D2A"/>
                </a:solidFill>
                <a:latin typeface="Avenir Next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 u="none">
                <a:solidFill>
                  <a:srgbClr val="181B10"/>
                </a:solidFill>
                <a:latin typeface="Avenir Next"/>
              </a:rPr>
              <a:t>Onboard at the mandi gate</a:t>
            </a:r>
          </a:p>
          <a:p>
            <a:pPr algn="l">
              <a:lnSpc>
                <a:spcPct val="12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Field team + FPO partnerships sign up farmers where they already sell — apps in Hindi &amp; Marathi.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97580" y="1965960"/>
            <a:ext cx="2505456" cy="41148"/>
          </a:xfrm>
          <a:prstGeom prst="rect">
            <a:avLst/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7580" y="2148840"/>
            <a:ext cx="236829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u="none" spc="180">
                <a:solidFill>
                  <a:srgbClr val="3F6D2A"/>
                </a:solidFill>
                <a:latin typeface="Avenir Next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 u="none">
                <a:solidFill>
                  <a:srgbClr val="181B10"/>
                </a:solidFill>
                <a:latin typeface="Avenir Next"/>
              </a:rPr>
              <a:t>Seed the buy side</a:t>
            </a:r>
          </a:p>
          <a:p>
            <a:pPr algn="l">
              <a:lnSpc>
                <a:spcPct val="12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20–30 local traders and processors as first buyers, so every listing gets bids from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5060" y="1965960"/>
            <a:ext cx="2505456" cy="41148"/>
          </a:xfrm>
          <a:prstGeom prst="rect">
            <a:avLst/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5060" y="2148840"/>
            <a:ext cx="236829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u="none" spc="180">
                <a:solidFill>
                  <a:srgbClr val="3F6D2A"/>
                </a:solidFill>
                <a:latin typeface="Avenir Next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 u="none">
                <a:solidFill>
                  <a:srgbClr val="181B10"/>
                </a:solidFill>
                <a:latin typeface="Avenir Next"/>
              </a:rPr>
              <a:t>Deliver manually first</a:t>
            </a:r>
          </a:p>
          <a:p>
            <a:pPr algn="l">
              <a:lnSpc>
                <a:spcPct val="12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Pilot transport partners &amp; doorstep delivery — hands-on, no trucks bought.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2540" y="1965960"/>
            <a:ext cx="2505456" cy="41148"/>
          </a:xfrm>
          <a:prstGeom prst="rect">
            <a:avLst/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2540" y="2148840"/>
            <a:ext cx="236829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u="none" spc="180">
                <a:solidFill>
                  <a:srgbClr val="3F6D2A"/>
                </a:solidFill>
                <a:latin typeface="Avenir Next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 u="none">
                <a:solidFill>
                  <a:srgbClr val="181B10"/>
                </a:solidFill>
                <a:latin typeface="Avenir Next"/>
              </a:rPr>
              <a:t>Copy the playbook</a:t>
            </a:r>
          </a:p>
          <a:p>
            <a:pPr algn="l">
              <a:lnSpc>
                <a:spcPct val="12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Density before breadth: prove the district, then replicate crop-by-crop, district-by-district.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" y="4892040"/>
            <a:ext cx="10591495" cy="914400"/>
          </a:xfrm>
          <a:prstGeom prst="roundRect">
            <a:avLst>
              <a:gd name="adj" fmla="val 12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25000"/>
              </a:lnSpc>
            </a:pPr>
            <a:r>
              <a:rPr sz="1400" b="1" i="0" u="none">
                <a:solidFill>
                  <a:srgbClr val="C2591F"/>
                </a:solidFill>
                <a:latin typeface="Avenir Next"/>
              </a:rPr>
              <a:t>90-day target: </a:t>
            </a:r>
            <a:r>
              <a:rPr sz="1400" b="0" i="0" u="none">
                <a:solidFill>
                  <a:srgbClr val="181B10"/>
                </a:solidFill>
                <a:latin typeface="Avenir Next"/>
              </a:rPr>
              <a:t>first </a:t>
            </a:r>
            <a:r>
              <a:rPr sz="1400" b="1" i="0" u="none">
                <a:solidFill>
                  <a:srgbClr val="4A4D3E"/>
                </a:solidFill>
                <a:latin typeface="Avenir Next"/>
              </a:rPr>
              <a:t>‹ N ›</a:t>
            </a:r>
            <a:r>
              <a:rPr sz="1400" b="0" i="0" u="none">
                <a:solidFill>
                  <a:srgbClr val="181B10"/>
                </a:solidFill>
                <a:latin typeface="Avenir Next"/>
              </a:rPr>
              <a:t> farmers and </a:t>
            </a:r>
            <a:r>
              <a:rPr sz="1400" b="1" i="0" u="none">
                <a:solidFill>
                  <a:srgbClr val="4A4D3E"/>
                </a:solidFill>
                <a:latin typeface="Avenir Next"/>
              </a:rPr>
              <a:t>‹ N ›</a:t>
            </a:r>
            <a:r>
              <a:rPr sz="1400" b="0" i="0" u="none">
                <a:solidFill>
                  <a:srgbClr val="181B10"/>
                </a:solidFill>
                <a:latin typeface="Avenir Next"/>
              </a:rPr>
              <a:t> traders live in one district, first </a:t>
            </a:r>
            <a:r>
              <a:rPr sz="1400" b="1" i="0" u="none">
                <a:solidFill>
                  <a:srgbClr val="4A4D3E"/>
                </a:solidFill>
                <a:latin typeface="Avenir Next"/>
              </a:rPr>
              <a:t>‹ ₹X ›</a:t>
            </a:r>
            <a:r>
              <a:rPr sz="1400" b="0" i="0" u="none">
                <a:solidFill>
                  <a:srgbClr val="181B10"/>
                </a:solidFill>
                <a:latin typeface="Avenir Next"/>
              </a:rPr>
              <a:t> of GMV cleared through escrow.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Built. </a:t>
            </a:r>
            <a:r>
              <a:rPr sz="3450" b="1" i="0" u="none">
                <a:solidFill>
                  <a:srgbClr val="3F6D2A"/>
                </a:solidFill>
                <a:latin typeface="Avenir Next"/>
              </a:rPr>
              <a:t>Next: liquidity.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100" y="1965960"/>
            <a:ext cx="3346704" cy="3383280"/>
          </a:xfrm>
          <a:prstGeom prst="roundRect">
            <a:avLst>
              <a:gd name="adj" fmla="val 7000"/>
            </a:avLst>
          </a:prstGeom>
          <a:solidFill>
            <a:srgbClr val="3F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/>
          <a:lstStyle/>
          <a:p>
            <a:pPr algn="ctr">
              <a:spcAft>
                <a:spcPts val="800"/>
              </a:spcAft>
            </a:pPr>
            <a:r>
              <a:rPr sz="1000" b="1" i="0" u="none" spc="200">
                <a:solidFill>
                  <a:srgbClr val="9BC97A"/>
                </a:solidFill>
                <a:latin typeface="Avenir Next"/>
              </a:rPr>
              <a:t>NOW · BUILT</a:t>
            </a:r>
          </a:p>
          <a:p>
            <a:pPr algn="l">
              <a:spcAft>
                <a:spcPts val="800"/>
              </a:spcAft>
            </a:pPr>
            <a:r>
              <a:rPr sz="1650" b="1" i="0" u="none">
                <a:solidFill>
                  <a:srgbClr val="FFFFFF"/>
                </a:solidFill>
                <a:latin typeface="Avenir Next"/>
              </a:rPr>
              <a:t>The exchange is live</a:t>
            </a:r>
          </a:p>
          <a:p>
            <a:pPr algn="l">
              <a:lnSpc>
                <a:spcPct val="130000"/>
              </a:lnSpc>
            </a:pPr>
            <a:r>
              <a:rPr sz="1150" b="0" i="0" u="none">
                <a:solidFill>
                  <a:srgbClr val="E4ECD9"/>
                </a:solidFill>
                <a:latin typeface="Avenir Next"/>
              </a:rPr>
              <a:t>Storefront, live mandi rates with market-wise detail, open bidding &amp; auctions, AI-agent negotiation, escrow with tracked deal flow, direct retail, Sarkari Yojana hub — web + native apps.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1124" y="1965960"/>
            <a:ext cx="3346704" cy="3383280"/>
          </a:xfrm>
          <a:prstGeom prst="roundRect">
            <a:avLst>
              <a:gd name="adj" fmla="val 7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/>
          <a:lstStyle/>
          <a:p>
            <a:pPr algn="ctr">
              <a:spcAft>
                <a:spcPts val="800"/>
              </a:spcAft>
            </a:pPr>
            <a:r>
              <a:rPr sz="1000" b="1" i="0" u="none" spc="200">
                <a:solidFill>
                  <a:srgbClr val="4A4D3E"/>
                </a:solidFill>
                <a:latin typeface="Avenir Next"/>
              </a:rPr>
              <a:t>NEXT · 90 DAYS</a:t>
            </a:r>
          </a:p>
          <a:p>
            <a:pPr algn="l">
              <a:spcAft>
                <a:spcPts val="800"/>
              </a:spcAft>
            </a:pPr>
            <a:r>
              <a:rPr sz="1650" b="1" i="0" u="none">
                <a:solidFill>
                  <a:srgbClr val="181B10"/>
                </a:solidFill>
                <a:latin typeface="Avenir Next"/>
              </a:rPr>
              <a:t>Liquidity in one place</a:t>
            </a:r>
          </a:p>
          <a:p>
            <a:pPr algn="l">
              <a:lnSpc>
                <a:spcPct val="13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Own one crop in one district: onboard farmers &amp; local traders, deepen ratings, pilot real transport partners &amp; doorstep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2148" y="1965960"/>
            <a:ext cx="3346704" cy="3383280"/>
          </a:xfrm>
          <a:prstGeom prst="roundRect">
            <a:avLst>
              <a:gd name="adj" fmla="val 7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37744"/>
          <a:lstStyle/>
          <a:p>
            <a:pPr algn="ctr">
              <a:spcAft>
                <a:spcPts val="800"/>
              </a:spcAft>
            </a:pPr>
            <a:r>
              <a:rPr sz="1000" b="1" i="0" u="none" spc="200">
                <a:solidFill>
                  <a:srgbClr val="4A4D3E"/>
                </a:solidFill>
                <a:latin typeface="Avenir Next"/>
              </a:rPr>
              <a:t>LATER</a:t>
            </a:r>
          </a:p>
          <a:p>
            <a:pPr algn="l">
              <a:spcAft>
                <a:spcPts val="800"/>
              </a:spcAft>
            </a:pPr>
            <a:r>
              <a:rPr sz="1650" b="1" i="0" u="none">
                <a:solidFill>
                  <a:srgbClr val="181B10"/>
                </a:solidFill>
                <a:latin typeface="Avenir Next"/>
              </a:rPr>
              <a:t>Price intelligence &amp; credit</a:t>
            </a:r>
          </a:p>
          <a:p>
            <a:pPr algn="l">
              <a:lnSpc>
                <a:spcPct val="130000"/>
              </a:lnSpc>
            </a:pPr>
            <a:r>
              <a:rPr sz="1150" b="0" i="0" u="none">
                <a:solidFill>
                  <a:srgbClr val="4A4D3E"/>
                </a:solidFill>
                <a:latin typeface="Avenir Next"/>
              </a:rPr>
              <a:t>Price history and trend signals from daily snapshots; FPO tools; financing with NBFC partners built on top of trade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u="none">
                <a:solidFill>
                  <a:srgbClr val="4A4D3E"/>
                </a:solidFill>
                <a:latin typeface="Avenir Next"/>
              </a:rPr>
              <a:t>See it live: cropbid.in — storefront, live rates and Yojana hub open to everyone, no login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Small team, </a:t>
            </a:r>
            <a:r>
              <a:rPr sz="3450" b="1" i="0" u="none">
                <a:solidFill>
                  <a:srgbClr val="3F6D2A"/>
                </a:solidFill>
                <a:latin typeface="Avenir Next"/>
              </a:rPr>
              <a:t>shipped product</a:t>
            </a:r>
            <a:r>
              <a:rPr sz="3450" b="1" i="0" u="none">
                <a:solidFill>
                  <a:srgbClr val="181B10"/>
                </a:solidFill>
                <a:latin typeface="Avenir Next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0100" y="2011680"/>
            <a:ext cx="5120640" cy="2377440"/>
          </a:xfrm>
          <a:prstGeom prst="roundRect">
            <a:avLst>
              <a:gd name="adj" fmla="val 8000"/>
            </a:avLst>
          </a:prstGeom>
          <a:solidFill>
            <a:srgbClr val="E9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/>
          <a:lstStyle/>
          <a:p>
            <a:pPr algn="ctr">
              <a:spcAft>
                <a:spcPts val="700"/>
              </a:spcAft>
            </a:pPr>
            <a:r>
              <a:rPr sz="1000" b="1" i="0" u="none" spc="200">
                <a:solidFill>
                  <a:srgbClr val="3F6D2A"/>
                </a:solidFill>
                <a:latin typeface="Avenir Next"/>
              </a:rPr>
              <a:t>FOUNDER</a:t>
            </a:r>
          </a:p>
          <a:p>
            <a:pPr algn="l">
              <a:spcAft>
                <a:spcPts val="700"/>
              </a:spcAft>
            </a:pPr>
            <a:r>
              <a:rPr sz="1900" b="1" i="0" u="none">
                <a:solidFill>
                  <a:srgbClr val="181B10"/>
                </a:solidFill>
                <a:latin typeface="Avenir Next"/>
              </a:rPr>
              <a:t>Hrishikesh Borkar</a:t>
            </a:r>
          </a:p>
          <a:p>
            <a:pPr algn="l">
              <a:lnSpc>
                <a:spcPct val="130000"/>
              </a:lnSpc>
            </a:pPr>
            <a:r>
              <a:rPr sz="1250" b="0" i="0" u="none">
                <a:solidFill>
                  <a:srgbClr val="4A4D3E"/>
                </a:solidFill>
                <a:latin typeface="Avenir Next"/>
              </a:rPr>
              <a:t>Designed and shipped the entire exchange — web platform, native apps, escrow rails, AI negotiation — live in production at cropbid.in.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0780" y="2011680"/>
            <a:ext cx="5120640" cy="2377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B9B5A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/>
          <a:lstStyle/>
          <a:p>
            <a:pPr algn="ctr">
              <a:spcAft>
                <a:spcPts val="700"/>
              </a:spcAft>
            </a:pPr>
            <a:r>
              <a:rPr sz="1000" b="1" i="0" u="none" spc="200">
                <a:solidFill>
                  <a:srgbClr val="4A4D3E"/>
                </a:solidFill>
                <a:latin typeface="Avenir Next"/>
              </a:rPr>
              <a:t>JOINING</a:t>
            </a:r>
          </a:p>
          <a:p>
            <a:pPr algn="l">
              <a:spcAft>
                <a:spcPts val="700"/>
              </a:spcAft>
            </a:pPr>
            <a:r>
              <a:rPr sz="1900" b="1" i="0" u="none">
                <a:solidFill>
                  <a:srgbClr val="4A4D3E"/>
                </a:solidFill>
                <a:latin typeface="Avenir Next"/>
              </a:rPr>
              <a:t>‹ co-founder / first hires ›</a:t>
            </a:r>
          </a:p>
          <a:p>
            <a:pPr algn="l">
              <a:lnSpc>
                <a:spcPct val="130000"/>
              </a:lnSpc>
            </a:pPr>
            <a:r>
              <a:rPr sz="1250" b="0" i="0" u="none">
                <a:solidFill>
                  <a:srgbClr val="4A4D3E"/>
                </a:solidFill>
                <a:latin typeface="Avenir Next"/>
              </a:rPr>
              <a:t>‹ field ops lead for the pilot district · growth 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846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u="none">
                <a:solidFill>
                  <a:srgbClr val="4A4D3E"/>
                </a:solidFill>
                <a:latin typeface="Avenir Next"/>
              </a:rPr>
              <a:t>Supported by </a:t>
            </a:r>
            <a:r>
              <a:rPr sz="1300" b="1" i="0" u="none">
                <a:solidFill>
                  <a:srgbClr val="181B10"/>
                </a:solidFill>
                <a:latin typeface="Avenir Next"/>
              </a:rPr>
              <a:t>India 2047 Ventures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3F6D2A"/>
                </a:solidFill>
                <a:latin typeface="Avenir Next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181B10"/>
                </a:solidFill>
                <a:latin typeface="Avenir Next"/>
              </a:rPr>
              <a:t>One number tells the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828800"/>
            <a:ext cx="105914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u="none" spc="200">
                <a:solidFill>
                  <a:srgbClr val="C2591F"/>
                </a:solidFill>
                <a:latin typeface="Avenir Next"/>
              </a:rPr>
              <a:t>NORTH STAR   </a:t>
            </a:r>
            <a:r>
              <a:rPr sz="2200" b="1" i="0" u="none">
                <a:solidFill>
                  <a:srgbClr val="181B10"/>
                </a:solidFill>
                <a:latin typeface="Avenir Next"/>
              </a:rPr>
              <a:t>GMV cleared through escrow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331720"/>
            <a:ext cx="10591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 u="none">
                <a:solidFill>
                  <a:srgbClr val="4A4D3E"/>
                </a:solidFill>
                <a:latin typeface="Georgia"/>
              </a:rPr>
              <a:t>— trade only counts when the money moves on-platform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3017520"/>
            <a:ext cx="3346704" cy="36576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3145536"/>
            <a:ext cx="31638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u="none">
                <a:solidFill>
                  <a:srgbClr val="181B10"/>
                </a:solidFill>
                <a:latin typeface="Avenir Next"/>
              </a:rPr>
              <a:t>Take rate</a:t>
            </a:r>
          </a:p>
          <a:p>
            <a:pPr algn="l">
              <a:lnSpc>
                <a:spcPct val="115000"/>
              </a:lnSpc>
            </a:pPr>
            <a:r>
              <a:rPr sz="1050" b="0" i="0" u="none">
                <a:solidFill>
                  <a:srgbClr val="4A4D3E"/>
                </a:solidFill>
                <a:latin typeface="Avenir Next"/>
              </a:rPr>
              <a:t>2% of every settlement — revenue tracks GMV directly.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1124" y="3017520"/>
            <a:ext cx="3346704" cy="36576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1124" y="3145536"/>
            <a:ext cx="31638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u="none">
                <a:solidFill>
                  <a:srgbClr val="181B10"/>
                </a:solidFill>
                <a:latin typeface="Avenir Next"/>
              </a:rPr>
              <a:t>Active listings &amp; bids</a:t>
            </a:r>
          </a:p>
          <a:p>
            <a:pPr algn="l">
              <a:lnSpc>
                <a:spcPct val="115000"/>
              </a:lnSpc>
            </a:pPr>
            <a:r>
              <a:rPr sz="1050" b="0" i="0" u="none">
                <a:solidFill>
                  <a:srgbClr val="4A4D3E"/>
                </a:solidFill>
                <a:latin typeface="Avenir Next"/>
              </a:rPr>
              <a:t>Supply-side depth in the pilot district.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2148" y="3017520"/>
            <a:ext cx="3346704" cy="36576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2148" y="3145536"/>
            <a:ext cx="31638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u="none">
                <a:solidFill>
                  <a:srgbClr val="181B10"/>
                </a:solidFill>
                <a:latin typeface="Avenir Next"/>
              </a:rPr>
              <a:t>Bid → deal conversion</a:t>
            </a:r>
          </a:p>
          <a:p>
            <a:pPr algn="l">
              <a:lnSpc>
                <a:spcPct val="115000"/>
              </a:lnSpc>
            </a:pPr>
            <a:r>
              <a:rPr sz="1050" b="0" i="0" u="none">
                <a:solidFill>
                  <a:srgbClr val="4A4D3E"/>
                </a:solidFill>
                <a:latin typeface="Avenir Next"/>
              </a:rPr>
              <a:t>Whether the price anchor actually closes trades.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" y="4325112"/>
            <a:ext cx="3346704" cy="36576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4453128"/>
            <a:ext cx="31638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u="none">
                <a:solidFill>
                  <a:srgbClr val="181B10"/>
                </a:solidFill>
                <a:latin typeface="Avenir Next"/>
              </a:rPr>
              <a:t>Repeat trade rate</a:t>
            </a:r>
          </a:p>
          <a:p>
            <a:pPr algn="l">
              <a:lnSpc>
                <a:spcPct val="115000"/>
              </a:lnSpc>
            </a:pPr>
            <a:r>
              <a:rPr sz="1050" b="0" i="0" u="none">
                <a:solidFill>
                  <a:srgbClr val="4A4D3E"/>
                </a:solidFill>
                <a:latin typeface="Avenir Next"/>
              </a:rPr>
              <a:t>The trust loop working: sellers and buyers coming 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1124" y="4325112"/>
            <a:ext cx="3346704" cy="36576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1124" y="4453128"/>
            <a:ext cx="31638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u="none">
                <a:solidFill>
                  <a:srgbClr val="181B10"/>
                </a:solidFill>
                <a:latin typeface="Avenir Next"/>
              </a:rPr>
              <a:t>Escrow dispute rate</a:t>
            </a:r>
          </a:p>
          <a:p>
            <a:pPr algn="l">
              <a:lnSpc>
                <a:spcPct val="115000"/>
              </a:lnSpc>
            </a:pPr>
            <a:r>
              <a:rPr sz="1050" b="0" i="0" u="none">
                <a:solidFill>
                  <a:srgbClr val="4A4D3E"/>
                </a:solidFill>
                <a:latin typeface="Avenir Next"/>
              </a:rPr>
              <a:t>Deals refunded vs released — the safety promise, measured.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2148" y="4325112"/>
            <a:ext cx="3346704" cy="36576"/>
          </a:xfrm>
          <a:prstGeom prst="rect">
            <a:avLst/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2148" y="4453128"/>
            <a:ext cx="31638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 u="none">
                <a:solidFill>
                  <a:srgbClr val="181B10"/>
                </a:solidFill>
                <a:latin typeface="Avenir Next"/>
              </a:rPr>
              <a:t>Farmer price delta</a:t>
            </a:r>
          </a:p>
          <a:p>
            <a:pPr algn="l">
              <a:lnSpc>
                <a:spcPct val="115000"/>
              </a:lnSpc>
            </a:pPr>
            <a:r>
              <a:rPr sz="1050" b="0" i="0" u="none">
                <a:solidFill>
                  <a:srgbClr val="4A4D3E"/>
                </a:solidFill>
                <a:latin typeface="Avenir Next"/>
              </a:rPr>
              <a:t>What sellers earn vs the mandi rate — the reason we exist.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566928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 u="none">
                <a:solidFill>
                  <a:srgbClr val="4A4D3E"/>
                </a:solidFill>
                <a:latin typeface="Georgia"/>
              </a:rPr>
              <a:t>Platform is live and pre-revenue — these counters start moving with the pilot district, and we will report them monthly.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95360" y="6382512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u="none">
                <a:solidFill>
                  <a:srgbClr val="4A4D3E"/>
                </a:solidFill>
                <a:latin typeface="Avenir Next"/>
              </a:rPr>
              <a:t>CropBid · cropbid.in —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66928"/>
            <a:ext cx="10591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u="none" spc="260">
                <a:solidFill>
                  <a:srgbClr val="9BC97A"/>
                </a:solidFill>
                <a:latin typeface="Avenir Next"/>
              </a:rPr>
              <a:t>CAPITAL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896112"/>
            <a:ext cx="105914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50" b="1" i="0" u="none">
                <a:solidFill>
                  <a:srgbClr val="F2EFE4"/>
                </a:solidFill>
                <a:latin typeface="Avenir Next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78308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 u="none">
                <a:solidFill>
                  <a:srgbClr val="9BC97A"/>
                </a:solidFill>
                <a:latin typeface="Avenir Next"/>
              </a:rPr>
              <a:t>‹ ₹X Cr 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92024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 u="none">
                <a:solidFill>
                  <a:srgbClr val="B9BFA6"/>
                </a:solidFill>
                <a:latin typeface="Avenir Next"/>
              </a:rPr>
              <a:t>to take the exchange from built to liquid — one district proven, playbook ready to repeat.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18211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u="none">
                <a:solidFill>
                  <a:srgbClr val="F2EFE4"/>
                </a:solidFill>
                <a:latin typeface="Avenir Next"/>
              </a:rPr>
              <a:t>Pilot liquidity ops — field team &amp;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9139" y="3246120"/>
            <a:ext cx="5120640" cy="146304"/>
          </a:xfrm>
          <a:prstGeom prst="roundRect">
            <a:avLst>
              <a:gd name="adj" fmla="val 50000"/>
            </a:avLst>
          </a:prstGeom>
          <a:solidFill>
            <a:srgbClr val="2B3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49139" y="3246120"/>
            <a:ext cx="2304288" cy="146304"/>
          </a:xfrm>
          <a:prstGeom prst="roundRect">
            <a:avLst>
              <a:gd name="adj" fmla="val 50000"/>
            </a:avLst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98379" y="318211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 u="none">
                <a:solidFill>
                  <a:srgbClr val="9BC97A"/>
                </a:solidFill>
                <a:latin typeface="Avenir Next"/>
              </a:rPr>
              <a:t>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65760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u="none">
                <a:solidFill>
                  <a:srgbClr val="F2EFE4"/>
                </a:solidFill>
                <a:latin typeface="Avenir Next"/>
              </a:rPr>
              <a:t>Product &amp;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9139" y="3721608"/>
            <a:ext cx="5120640" cy="146304"/>
          </a:xfrm>
          <a:prstGeom prst="roundRect">
            <a:avLst>
              <a:gd name="adj" fmla="val 50000"/>
            </a:avLst>
          </a:prstGeom>
          <a:solidFill>
            <a:srgbClr val="2B3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9139" y="3721608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98379" y="3657600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 u="none">
                <a:solidFill>
                  <a:srgbClr val="9BC97A"/>
                </a:solidFill>
                <a:latin typeface="Avenir Next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13308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u="none">
                <a:solidFill>
                  <a:srgbClr val="F2EFE4"/>
                </a:solidFill>
                <a:latin typeface="Avenir Next"/>
              </a:rPr>
              <a:t>Logistics partnerships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9139" y="4197096"/>
            <a:ext cx="5120640" cy="146304"/>
          </a:xfrm>
          <a:prstGeom prst="roundRect">
            <a:avLst>
              <a:gd name="adj" fmla="val 50000"/>
            </a:avLst>
          </a:prstGeom>
          <a:solidFill>
            <a:srgbClr val="2B3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49139" y="4197096"/>
            <a:ext cx="1024128" cy="146304"/>
          </a:xfrm>
          <a:prstGeom prst="roundRect">
            <a:avLst>
              <a:gd name="adj" fmla="val 50000"/>
            </a:avLst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8379" y="4133088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 u="none">
                <a:solidFill>
                  <a:srgbClr val="9BC97A"/>
                </a:solidFill>
                <a:latin typeface="Avenir Next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4608576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u="none">
                <a:solidFill>
                  <a:srgbClr val="F2EFE4"/>
                </a:solidFill>
                <a:latin typeface="Avenir Next"/>
              </a:rPr>
              <a:t>Compliance &amp; 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9139" y="4672584"/>
            <a:ext cx="5120640" cy="146304"/>
          </a:xfrm>
          <a:prstGeom prst="roundRect">
            <a:avLst>
              <a:gd name="adj" fmla="val 50000"/>
            </a:avLst>
          </a:prstGeom>
          <a:solidFill>
            <a:srgbClr val="2B3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9139" y="4672584"/>
            <a:ext cx="512064" cy="146304"/>
          </a:xfrm>
          <a:prstGeom prst="roundRect">
            <a:avLst>
              <a:gd name="adj" fmla="val 50000"/>
            </a:avLst>
          </a:prstGeom>
          <a:solidFill>
            <a:srgbClr val="9B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8379" y="4608576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 u="none">
                <a:solidFill>
                  <a:srgbClr val="9BC97A"/>
                </a:solidFill>
                <a:latin typeface="Avenir Next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534924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 u="none">
                <a:solidFill>
                  <a:srgbClr val="F2EFE4"/>
                </a:solidFill>
                <a:latin typeface="Avenir Next"/>
              </a:rPr>
              <a:t>What it buys: </a:t>
            </a:r>
            <a:r>
              <a:rPr sz="1400" b="1" i="0" u="none">
                <a:solidFill>
                  <a:srgbClr val="B9BFA6"/>
                </a:solidFill>
                <a:latin typeface="Avenir Next"/>
              </a:rPr>
              <a:t>‹ N ›</a:t>
            </a:r>
            <a:r>
              <a:rPr sz="1400" b="0" i="0" u="none">
                <a:solidFill>
                  <a:srgbClr val="B9BFA6"/>
                </a:solidFill>
                <a:latin typeface="Avenir Next"/>
              </a:rPr>
              <a:t> districts live and </a:t>
            </a:r>
            <a:r>
              <a:rPr sz="1400" b="1" i="0" u="none">
                <a:solidFill>
                  <a:srgbClr val="B9BFA6"/>
                </a:solidFill>
                <a:latin typeface="Avenir Next"/>
              </a:rPr>
              <a:t>‹ ₹X Cr ›</a:t>
            </a:r>
            <a:r>
              <a:rPr sz="1400" b="0" i="0" u="none">
                <a:solidFill>
                  <a:srgbClr val="B9BFA6"/>
                </a:solidFill>
                <a:latin typeface="Avenir Next"/>
              </a:rPr>
              <a:t> annualised GMV through escrow in 24 months.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6309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 u="none" spc="150">
                <a:solidFill>
                  <a:srgbClr val="B9BFA6"/>
                </a:solidFill>
                <a:latin typeface="Avenir Next"/>
              </a:rPr>
              <a:t>SUPPORTED BY   </a:t>
            </a:r>
            <a:r>
              <a:rPr sz="1100" b="1" i="0" u="none">
                <a:solidFill>
                  <a:srgbClr val="F2EFE4"/>
                </a:solidFill>
                <a:latin typeface="Avenir Next"/>
              </a:rPr>
              <a:t>India 2047 Ventures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30936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 u="none">
                <a:solidFill>
                  <a:srgbClr val="B9BFA6"/>
                </a:solidFill>
                <a:latin typeface="Avenir Next"/>
              </a:rPr>
              <a:t>‹ your name · email · phone 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